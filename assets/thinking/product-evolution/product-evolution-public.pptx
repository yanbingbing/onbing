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b1f72b507641f8" /><Relationship Type="http://schemas.openxmlformats.org/officeDocument/2006/relationships/extended-properties" Target="/docProps/app.xml" Id="R1c49d52a56454229" /><Relationship Type="http://schemas.openxmlformats.org/officeDocument/2006/relationships/officeDocument" Target="/ppt/presentation.xml" Id="R8861733e972643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acd79132664ebf"/>
  </p:sldMasterIdLst>
  <p:notesMasterIdLst>
    <p:notesMasterId xmlns:r="http://schemas.openxmlformats.org/officeDocument/2006/relationships" r:id="R7d6846d44ed54e45"/>
  </p:notesMasterIdLst>
  <p:sldIdLst>
    <p:sldId xmlns:r="http://schemas.openxmlformats.org/officeDocument/2006/relationships" id="256" r:id="Rf0848bdd76e04e0a"/>
    <p:sldId xmlns:r="http://schemas.openxmlformats.org/officeDocument/2006/relationships" id="257" r:id="R45b411dfc02e4f18"/>
    <p:sldId xmlns:r="http://schemas.openxmlformats.org/officeDocument/2006/relationships" id="258" r:id="R90044691782b409a"/>
    <p:sldId xmlns:r="http://schemas.openxmlformats.org/officeDocument/2006/relationships" id="259" r:id="R82d6204cbb9a49e1"/>
    <p:sldId xmlns:r="http://schemas.openxmlformats.org/officeDocument/2006/relationships" id="260" r:id="R7ac8e1d21c734597"/>
    <p:sldId xmlns:r="http://schemas.openxmlformats.org/officeDocument/2006/relationships" id="261" r:id="Rd4d178c2ad1c41ae"/>
    <p:sldId xmlns:r="http://schemas.openxmlformats.org/officeDocument/2006/relationships" id="262" r:id="Rd7e583a1848d456a"/>
    <p:sldId xmlns:r="http://schemas.openxmlformats.org/officeDocument/2006/relationships" id="263" r:id="Rad66f1e9c1204405"/>
    <p:sldId xmlns:r="http://schemas.openxmlformats.org/officeDocument/2006/relationships" id="264" r:id="R433cc9258c94464c"/>
    <p:sldId xmlns:r="http://schemas.openxmlformats.org/officeDocument/2006/relationships" id="265" r:id="Rf5b2bc24ea584a63"/>
    <p:sldId xmlns:r="http://schemas.openxmlformats.org/officeDocument/2006/relationships" id="266" r:id="R7e0a81b8ac094325"/>
    <p:sldId xmlns:r="http://schemas.openxmlformats.org/officeDocument/2006/relationships" id="267" r:id="R56e910343e744ccc"/>
    <p:sldId xmlns:r="http://schemas.openxmlformats.org/officeDocument/2006/relationships" id="268" r:id="Re0c3c03a458640f2"/>
    <p:sldId xmlns:r="http://schemas.openxmlformats.org/officeDocument/2006/relationships" id="269" r:id="R17301d9ab9e54109"/>
    <p:sldId xmlns:r="http://schemas.openxmlformats.org/officeDocument/2006/relationships" id="270" r:id="R2d31b72106c44d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dffc87f0da4de0" /><Relationship Type="http://schemas.openxmlformats.org/officeDocument/2006/relationships/slideMaster" Target="/ppt/slideMasters/slideMaster1.xml" Id="R54acd79132664ebf" /><Relationship Type="http://schemas.openxmlformats.org/officeDocument/2006/relationships/notesMaster" Target="/ppt/notesMasters/notesMaster1.xml" Id="R7d6846d44ed54e45" /><Relationship Type="http://schemas.openxmlformats.org/officeDocument/2006/relationships/presProps" Target="/ppt/presProps.xml" Id="R0f802735ac6f42b0" /><Relationship Type="http://schemas.openxmlformats.org/officeDocument/2006/relationships/tableStyles" Target="/ppt/tableStyles.xml" Id="Rc1a58c4c9966420f" /><Relationship Type="http://schemas.openxmlformats.org/officeDocument/2006/relationships/slide" Target="/ppt/slides/slide1.xml" Id="Rf0848bdd76e04e0a" /><Relationship Type="http://schemas.openxmlformats.org/officeDocument/2006/relationships/slide" Target="/ppt/slides/slide2.xml" Id="R45b411dfc02e4f18" /><Relationship Type="http://schemas.openxmlformats.org/officeDocument/2006/relationships/slide" Target="/ppt/slides/slide3.xml" Id="R90044691782b409a" /><Relationship Type="http://schemas.openxmlformats.org/officeDocument/2006/relationships/slide" Target="/ppt/slides/slide4.xml" Id="R82d6204cbb9a49e1" /><Relationship Type="http://schemas.openxmlformats.org/officeDocument/2006/relationships/slide" Target="/ppt/slides/slide5.xml" Id="R7ac8e1d21c734597" /><Relationship Type="http://schemas.openxmlformats.org/officeDocument/2006/relationships/slide" Target="/ppt/slides/slide6.xml" Id="Rd4d178c2ad1c41ae" /><Relationship Type="http://schemas.openxmlformats.org/officeDocument/2006/relationships/slide" Target="/ppt/slides/slide7.xml" Id="Rd7e583a1848d456a" /><Relationship Type="http://schemas.openxmlformats.org/officeDocument/2006/relationships/slide" Target="/ppt/slides/slide8.xml" Id="Rad66f1e9c1204405" /><Relationship Type="http://schemas.openxmlformats.org/officeDocument/2006/relationships/slide" Target="/ppt/slides/slide9.xml" Id="R433cc9258c94464c" /><Relationship Type="http://schemas.openxmlformats.org/officeDocument/2006/relationships/slide" Target="/ppt/slides/slide10.xml" Id="Rf5b2bc24ea584a63" /><Relationship Type="http://schemas.openxmlformats.org/officeDocument/2006/relationships/slide" Target="/ppt/slides/slide11.xml" Id="R7e0a81b8ac094325" /><Relationship Type="http://schemas.openxmlformats.org/officeDocument/2006/relationships/slide" Target="/ppt/slides/slide12.xml" Id="R56e910343e744ccc" /><Relationship Type="http://schemas.openxmlformats.org/officeDocument/2006/relationships/slide" Target="/ppt/slides/slide13.xml" Id="Re0c3c03a458640f2" /><Relationship Type="http://schemas.openxmlformats.org/officeDocument/2006/relationships/slide" Target="/ppt/slides/slide14.xml" Id="R17301d9ab9e54109" /><Relationship Type="http://schemas.openxmlformats.org/officeDocument/2006/relationships/slide" Target="/ppt/slides/slide15.xml" Id="R2d31b72106c44d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deecd6c5b14e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43b946a03747a5" /><Relationship Type="http://schemas.openxmlformats.org/officeDocument/2006/relationships/notesMaster" Target="/ppt/notesMasters/notesMaster1.xml" Id="R0334e205fa4d4c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bad23c75b34e24" /><Relationship Type="http://schemas.openxmlformats.org/officeDocument/2006/relationships/notesMaster" Target="/ppt/notesMasters/notesMaster1.xml" Id="R7ca18cdfeb0f4b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f3efcd0cdd453d" /><Relationship Type="http://schemas.openxmlformats.org/officeDocument/2006/relationships/notesMaster" Target="/ppt/notesMasters/notesMaster1.xml" Id="R8221f82f820e48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7fa58daa1d459b" /><Relationship Type="http://schemas.openxmlformats.org/officeDocument/2006/relationships/notesMaster" Target="/ppt/notesMasters/notesMaster1.xml" Id="R04bcd620745245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787bd44a424a75" /><Relationship Type="http://schemas.openxmlformats.org/officeDocument/2006/relationships/notesMaster" Target="/ppt/notesMasters/notesMaster1.xml" Id="R6977afe2bd4148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481da5725e4129" /><Relationship Type="http://schemas.openxmlformats.org/officeDocument/2006/relationships/notesMaster" Target="/ppt/notesMasters/notesMaster1.xml" Id="R044caa9d7bd44c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57439e3a2f4d55" /><Relationship Type="http://schemas.openxmlformats.org/officeDocument/2006/relationships/notesMaster" Target="/ppt/notesMasters/notesMaster1.xml" Id="R4c77e33b7d1448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b0775c71894fd8" /><Relationship Type="http://schemas.openxmlformats.org/officeDocument/2006/relationships/notesMaster" Target="/ppt/notesMasters/notesMaster1.xml" Id="R5511066b5d7c477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86dc750092441e9" /><Relationship Type="http://schemas.openxmlformats.org/officeDocument/2006/relationships/notesMaster" Target="/ppt/notesMasters/notesMaster1.xml" Id="Rdc8691b5fd7d49c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bd790a1ab04917" /><Relationship Type="http://schemas.openxmlformats.org/officeDocument/2006/relationships/notesMaster" Target="/ppt/notesMasters/notesMaster1.xml" Id="Re9de85b5a8644a9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e1c891664344e65" /><Relationship Type="http://schemas.openxmlformats.org/officeDocument/2006/relationships/notesMaster" Target="/ppt/notesMasters/notesMaster1.xml" Id="R6702495b65194fd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5cdc02ebd8847d3" /><Relationship Type="http://schemas.openxmlformats.org/officeDocument/2006/relationships/notesMaster" Target="/ppt/notesMasters/notesMaster1.xml" Id="R8c21662302d4417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71ffc3f9efe4a40" /><Relationship Type="http://schemas.openxmlformats.org/officeDocument/2006/relationships/notesMaster" Target="/ppt/notesMasters/notesMaster1.xml" Id="R3ade5f8529ab416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fcf4bd118434854" /><Relationship Type="http://schemas.openxmlformats.org/officeDocument/2006/relationships/notesMaster" Target="/ppt/notesMasters/notesMaster1.xml" Id="R1f023aaaa2f7489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fcbdd7d7e8b4fda" /><Relationship Type="http://schemas.openxmlformats.org/officeDocument/2006/relationships/notesMaster" Target="/ppt/notesMasters/notesMaster1.xml" Id="R7137c027077645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开场不要从阿里、字节或低代码讲起，直接说：我想用三个产品讲清楚，这两年我的判断是怎么被现实更新的。</a:t>
            </a:r>
          </a:p>
          <a:p xmlns:a="http://schemas.openxmlformats.org/drawingml/2006/main">
            <a:r>
              <a:t>先立一个基调：今天不是项目流水账，也不是融资路演。产品只是证据，我更想讨论的是判断。</a:t>
            </a:r>
          </a:p>
          <a:p xmlns:a="http://schemas.openxmlformats.org/drawingml/2006/main">
            <a:r>
              <a:t>整场控制在 18—22 分钟，尽量给对方留下追问空间。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这里先播放产品视频，不要完整播放。建议从产品输入需求开始，播到页面生成并进入可视编辑，大约 60—90 秒。</a:t>
            </a:r>
          </a:p>
          <a:p xmlns:a="http://schemas.openxmlformats.org/drawingml/2006/main">
            <a:r>
              <a:t>本机视频路径：/Users/my/Documents/02_创作与素材/视频/产品视频/来自Downloads/发布会与成片/deamoy.ai.mp4</a:t>
            </a:r>
          </a:p>
          <a:p xmlns:a="http://schemas.openxmlformats.org/drawingml/2006/main">
            <a:r>
              <a:t>一句话定位：Deamoy 不是单次生成器，而是让 AI 与人持续协同编辑同一件作品。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这页不要把公开数据讲成增长成绩。它只证明：我们不是停在想法，而是做了两年、上线、被真实用户试用和评价。</a:t>
            </a:r>
          </a:p>
          <a:p xmlns:a="http://schemas.openxmlformats.org/drawingml/2006/main">
            <a:r>
              <a:t>真正值得讨论的是：为什么一个完整度很高、产品形态也被市场后来验证的东西，没有形成持续增长。</a:t>
            </a:r>
          </a:p>
          <a:p xmlns:a="http://schemas.openxmlformats.org/drawingml/2006/main">
            <a:r>
              <a:t>我后来判断，增长停滞只是表象，命题本身才是底层原因。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这里要把 Deamoy 的创新讲得更抽象：不是 Figma-like 界面，也不是生成速度，而是协作协议。</a:t>
            </a:r>
          </a:p>
          <a:p xmlns:a="http://schemas.openxmlformats.org/drawingml/2006/main">
            <a:r>
              <a:t>当时我认为 AI 做产品仍需要人做精细控制，所以关键是让 AI 和人的操作能够互相理解、不断接力。</a:t>
            </a:r>
          </a:p>
          <a:p xmlns:a="http://schemas.openxmlformats.org/drawingml/2006/main">
            <a:r>
              <a:t>这个判断的一部分今天仍然成立；后来错的是我们选择承载它的对象边界。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 Deamoy 最值得讲的技术认知。强调 DSL 不是为了炫架构，而是为了解决人机协作的共享状态。</a:t>
            </a:r>
          </a:p>
          <a:p xmlns:a="http://schemas.openxmlformats.org/drawingml/2006/main">
            <a:r>
              <a:t>人改了之后，AI 还能读懂；AI 改了之后，人还能在可视界面里继续精调。</a:t>
            </a:r>
          </a:p>
          <a:p xmlns:a="http://schemas.openxmlformats.org/drawingml/2006/main">
            <a:r>
              <a:t>后来我没有否定 DSL，而是重新判断：DSL 必须放在有清晰边界的领域里。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这是我今天对 Deamoy 失败的核心诊断。增长停滞只是表象。</a:t>
            </a:r>
          </a:p>
          <a:p xmlns:a="http://schemas.openxmlformats.org/drawingml/2006/main">
            <a:r>
              <a:t>任意应用不是一个视觉对象，它背后是开放的业务语义。复杂度主要来自规则、状态、权限、异常和长期维护。</a:t>
            </a:r>
          </a:p>
          <a:p xmlns:a="http://schemas.openxmlformats.org/drawingml/2006/main">
            <a:r>
              <a:t>视觉 DSL 可以很好地表达页面，却无法稳定兜底任意业务系统。AI 加上低代码也不会自动消灭这个问题。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这一页停一下，让对方看完。它是整场最重要的创业反思。</a:t>
            </a:r>
          </a:p>
          <a:p xmlns:a="http://schemas.openxmlformats.org/drawingml/2006/main">
            <a:r>
              <a:t>代码越来越便宜，不等于系统越来越便宜。系统的成本转移到了定义、验证、异常与长期责任。</a:t>
            </a:r>
          </a:p>
          <a:p xmlns:a="http://schemas.openxmlformats.org/drawingml/2006/main">
            <a:r>
              <a:t>所以 AI Coding 会放大执行，但不会替代判断；甚至判断的重要性更高。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这页把失败提炼成可迁移的认知：不是 DSL 失败，而是 DSL 的适用边界被我放得太大。</a:t>
            </a:r>
          </a:p>
          <a:p xmlns:a="http://schemas.openxmlformats.org/drawingml/2006/main">
            <a:r>
              <a:t>通用应用需要一门完整语言；当 DSL 足够表达它时，它本质上又变成了代码。</a:t>
            </a:r>
          </a:p>
          <a:p xmlns:a="http://schemas.openxmlformats.org/drawingml/2006/main">
            <a:r>
              <a:t>这也解释了为什么后来我选择视频：视频很难，但它的对象、时间轴、轨道、素材和渲染结果是有限且可检查的。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这页和领导的关系很重要。可以说：您当时讲过先停下惯性思维，这句话我后来真的用在了自己身上。</a:t>
            </a:r>
          </a:p>
          <a:p xmlns:a="http://schemas.openxmlformats.org/drawingml/2006/main">
            <a:r>
              <a:t>我不是因为钱完全烧完才停，也不是把数据问题归咎于市场。我判断继续投入只会把错误命题做得更完整。</a:t>
            </a:r>
          </a:p>
          <a:p xmlns:a="http://schemas.openxmlformats.org/drawingml/2006/main">
            <a:r>
              <a:t>停下来本身也是创业能力：承认沉没成本，重新选择。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这里一句话带过低代码，也一句话带过阿里、字节：它们给了我复杂系统和平台化的训练，但不是今天的主线。</a:t>
            </a:r>
          </a:p>
          <a:p xmlns:a="http://schemas.openxmlformats.org/drawingml/2006/main">
            <a:r>
              <a:t>真正的成长发生在停下以后：我没有先组团队，而是自己写 Agent、写 prompt、做工具、做编辑器，在高频使用中更新认知。</a:t>
            </a:r>
          </a:p>
          <a:p xmlns:a="http://schemas.openxmlformats.org/drawingml/2006/main">
            <a:r>
              <a:t>路径不是线性换赛道，而是不断缩小和重新定义问题边界。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不要讲 VML、时间轴架构或音视频技术细节，除非对方主动追问。</a:t>
            </a:r>
          </a:p>
          <a:p xmlns:a="http://schemas.openxmlformats.org/drawingml/2006/main">
            <a:r>
              <a:t>这一页只讲为什么选择视频：它足够复杂，值得形成专业壁垒；又有边界，Agent 的动作和结果能够被验证。</a:t>
            </a:r>
          </a:p>
          <a:p xmlns:a="http://schemas.openxmlformats.org/drawingml/2006/main">
            <a:r>
              <a:t>所以 LoopCut 对我不是单一产品，而是一场认知实验：结构化规则能否让 Agent 从会生成走向稳定行动。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VibePaper 不是为了再做一个无限画布。画布的价值是给 Agent 一个世界模型：它知道什么对象存在、它们如何关联、哪些结果可以继续被引用。</a:t>
            </a:r>
          </a:p>
          <a:p xmlns:a="http://schemas.openxmlformats.org/drawingml/2006/main">
            <a:r>
              <a:t>一句话被拆成可见工作流，多模态模型并行执行，中间过程和结果都回到同一张画布。</a:t>
            </a:r>
          </a:p>
          <a:p xmlns:a="http://schemas.openxmlformats.org/drawingml/2006/main">
            <a:r>
              <a:t>这一步让我从‘给 Agent 更多工具’转向‘给 Agent 一个可以生活和工作的世界’。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这页要主动纠正一个容易被误解的点：我不是从应用转向创作，因为应用本来就是创作。</a:t>
            </a:r>
          </a:p>
          <a:p xmlns:a="http://schemas.openxmlformats.org/drawingml/2006/main">
            <a:r>
              <a:t>真正的变化是先选择边界更清晰的作品类型建立闭环，再逐步扩展到一张容纳所有创作对象的桌面。</a:t>
            </a:r>
          </a:p>
          <a:p xmlns:a="http://schemas.openxmlformats.org/drawingml/2006/main">
            <a:r>
              <a:t>VibePaper 是入口和世界；LoopCut 是专业能力和确定性语言；Deamoy 是长期的平台形态。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这一页讲我的长期方法论，而不是某个 Agent 框架。</a:t>
            </a:r>
          </a:p>
          <a:p xmlns:a="http://schemas.openxmlformats.org/drawingml/2006/main">
            <a:r>
              <a:t>我写 prompt 不是堆句子，而是在写世界规则：什么对象存在、什么动作允许、工具有什么权限、失败如何恢复。</a:t>
            </a:r>
          </a:p>
          <a:p xmlns:a="http://schemas.openxmlformats.org/drawingml/2006/main">
            <a:r>
              <a:t>我看 memory 也不是尽量多存，而是研究人如何选择、压缩、遗忘与卸载负担。未来 Agent 的进化一定会不断回到这些关于人的问题。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最后不要直接说想搭顺风车，而是把对话引到判断与资源配置。</a:t>
            </a:r>
          </a:p>
          <a:p xmlns:a="http://schemas.openxmlformats.org/drawingml/2006/main">
            <a:r>
              <a:t>建议问三个问题：第一，视频是不是足够好的进入点；第二，长期壁垒更可能在专业引擎、Agent 架构还是创作网络；第三，从垂直工具走向创作桌面的时机应该如何判断。</a:t>
            </a:r>
          </a:p>
          <a:p xmlns:a="http://schemas.openxmlformats.org/drawingml/2006/main">
            <a:r>
              <a:t>如果对方追问阿里、字节经历，用 60 秒说明它们给你的复杂系统、组织协同与平台化底座，不展开项目列表。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23bbf5f3a64f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4a11f85a1d44c2" /><Relationship Type="http://schemas.openxmlformats.org/officeDocument/2006/relationships/slideLayout" Target="/ppt/slideLayouts/slideLayout1.xml" Id="R2576327c56484f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76327c56484f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296eb9174b4605" /><Relationship Type="http://schemas.openxmlformats.org/officeDocument/2006/relationships/notesSlide" Target="/ppt/notesSlides/notesSlide1.xml" Id="Rfbe15e0084be40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e5aeea5c447b8" /><Relationship Type="http://schemas.openxmlformats.org/officeDocument/2006/relationships/image" Target="/ppt/media/image.png" Id="Rc975314cccfd4127" /><Relationship Type="http://schemas.openxmlformats.org/officeDocument/2006/relationships/image" Target="/ppt/media/image2.png" Id="Rf24e93a171c34b5a" /><Relationship Type="http://schemas.openxmlformats.org/officeDocument/2006/relationships/notesSlide" Target="/ppt/notesSlides/notesSlide2.xml" Id="R4714228f2ee649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bc76d375f42ff" /><Relationship Type="http://schemas.openxmlformats.org/officeDocument/2006/relationships/image" Target="/ppt/media/image.jpeg" Id="Rc79ace270e6642e5" /><Relationship Type="http://schemas.openxmlformats.org/officeDocument/2006/relationships/notesSlide" Target="/ppt/notesSlides/notesSlide3.xml" Id="Rf1f7c5097cc54b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3c30ba2334377" /><Relationship Type="http://schemas.openxmlformats.org/officeDocument/2006/relationships/image" Target="/ppt/media/image3.png" Id="R76320ce99b2f422a" /><Relationship Type="http://schemas.openxmlformats.org/officeDocument/2006/relationships/notesSlide" Target="/ppt/notesSlides/notesSlide4.xml" Id="R8f4f5e789bcc42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202dd48a44bb4" /><Relationship Type="http://schemas.openxmlformats.org/officeDocument/2006/relationships/notesSlide" Target="/ppt/notesSlides/notesSlide5.xml" Id="R348b15e2a8754a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fb506ded11410a" /><Relationship Type="http://schemas.openxmlformats.org/officeDocument/2006/relationships/notesSlide" Target="/ppt/notesSlides/notesSlide6.xml" Id="R6d3f242a85714b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783fc60944c70" /><Relationship Type="http://schemas.openxmlformats.org/officeDocument/2006/relationships/notesSlide" Target="/ppt/notesSlides/notesSlide7.xml" Id="Rd0682115e3594e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5858dc3bb64bd4" /><Relationship Type="http://schemas.openxmlformats.org/officeDocument/2006/relationships/notesSlide" Target="/ppt/notesSlides/notesSlide8.xml" Id="Rfaac5d2d983f42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f7033b9d24e4d" /><Relationship Type="http://schemas.openxmlformats.org/officeDocument/2006/relationships/notesSlide" Target="/ppt/notesSlides/notesSlide9.xml" Id="R35289e522f8640e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1c146050c4b77" /><Relationship Type="http://schemas.openxmlformats.org/officeDocument/2006/relationships/notesSlide" Target="/ppt/notesSlides/notesSlide10.xml" Id="R676b63f169684bb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7204a13014f0f" /><Relationship Type="http://schemas.openxmlformats.org/officeDocument/2006/relationships/image" Target="/ppt/media/image4.png" Id="R6926e44e859a4b54" /><Relationship Type="http://schemas.openxmlformats.org/officeDocument/2006/relationships/notesSlide" Target="/ppt/notesSlides/notesSlide11.xml" Id="Rc946c86ea9e6406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0b10c719664f61" /><Relationship Type="http://schemas.openxmlformats.org/officeDocument/2006/relationships/image" Target="/ppt/media/image2.jpeg" Id="R45ec2220a90e4c47" /><Relationship Type="http://schemas.openxmlformats.org/officeDocument/2006/relationships/image" Target="/ppt/media/image3.jpeg" Id="Rb66fe42afa1e4229" /><Relationship Type="http://schemas.openxmlformats.org/officeDocument/2006/relationships/notesSlide" Target="/ppt/notesSlides/notesSlide12.xml" Id="R294f19f2e87f40b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612b751aaa4102" /><Relationship Type="http://schemas.openxmlformats.org/officeDocument/2006/relationships/notesSlide" Target="/ppt/notesSlides/notesSlide13.xml" Id="R0f102b04fece485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024d75db90427d" /><Relationship Type="http://schemas.openxmlformats.org/officeDocument/2006/relationships/notesSlide" Target="/ppt/notesSlides/notesSlide14.xml" Id="R1ea903b461fd4a6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e3637d49854b93" /><Relationship Type="http://schemas.openxmlformats.org/officeDocument/2006/relationships/notesSlide" Target="/ppt/notesSlides/notesSlide15.xml" Id="R3d2d880e87e843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C402FA-80AF-43C4-9D98-55C25C29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成长复盘 · 2026.07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701665-9BEE-4EB7-84AD-4E570945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57325"/>
            <a:ext cx="7239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85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85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从 Deamoy 到</a:t>
            </a:r>
          </a:p>
          <a:p xmlns:a="http://schemas.openxmlformats.org/drawingml/2006/main">
            <a:pPr algn="l">
              <a:buNone/>
              <a:defRPr sz="585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85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Creative 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3C2E74-6A78-4ECD-AC4A-9E319F5D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210050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过去两年，我如何更新对 Agent、创作与下一代软件的判断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400050" y="5381625"/>
            <a:ext cx="7124700" cy="953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11111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CBB41E-CF91-4D57-A120-2B84A6BB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产品只是证据，主线是判断如何被现实更新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9886950" y="571500"/>
            <a:ext cx="953" cy="50863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E83124-29B4-4CAC-939E-2F96A174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7620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91B4A4-7C7F-4064-A376-67DEBCBF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038225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Deamoy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1797F1-C9C7-4093-B9D2-12C1D616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362075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人机协作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5B6D7D-F5D5-4600-8FA7-FD73AA74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0193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5CC6B9-05B6-4C90-BCC2-051638D7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295525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StarCut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2057A3-7D5C-4C89-8177-EB34B427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619375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专业视频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11C4E2-C905-4005-AC1F-D24A37D5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76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6D59E1-3D1B-466A-BBD3-1D47CB46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552825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VibePaper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80328D-A79F-441A-9527-18B3F7E5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876675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Agent 世界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CEC523-C3B3-424F-800D-D0E28748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533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3972F1-7D18-428B-A013-A31AA534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810125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Creative 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FC087F-0EBB-41C3-8159-399BCA42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133975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垂直操作系统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2A7E15-F9A9-4304-B63A-5F3DA4A8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029590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26D4977A-7AFB-4645-8A5A-7BB7EE08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 / DEAMOY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8B5BF6-AC0E-4179-9BDA-5FBA4248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11391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我先讲一个做了两年、真正上线，最后被我主动停下来的产品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080184-AEF6-451A-9261-468EC1ED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543050"/>
            <a:ext cx="6038850" cy="36957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7D9"/>
            </a:solidFill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75314cccfd4127"/>
          <a:srcRect xmlns:a="http://schemas.openxmlformats.org/drawingml/2006/main" l="92" t="0" r="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53100" y="1543050"/>
            <a:ext cx="6038850" cy="3695700"/>
          </a:xfrm>
          <a:prstGeom xmlns:a="http://schemas.openxmlformats.org/drawingml/2006/main" prst="round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DC31BA-42E2-4C0C-A207-1660597C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19400"/>
            <a:ext cx="1143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4F4639-0277-46AE-9B9A-CFA7706A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88607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B7551A-BCE6-4B5F-BAF5-FFE98712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9115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现场播放产品视频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92E394-9A7D-474F-8F28-B79AEB30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6769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建议 60—90 秒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4e93a171c34b5a"/>
          <a:stretch xmlns:a="http://schemas.openxmlformats.org/drawingml/2006/main"/>
        </p:blipFill>
        <p:spPr>
          <a:xfrm xmlns:a="http://schemas.openxmlformats.org/drawingml/2006/main">
            <a:off x="419100" y="1676400"/>
            <a:ext cx="704850" cy="704850"/>
          </a:xfrm>
          <a:prstGeom xmlns:a="http://schemas.openxmlformats.org/drawingml/2006/main" prst="round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0EF82B-A71B-4923-A4BE-B92988D1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8592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Deamoy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18EC6F-F453-4BE7-B6C0-6BCC5569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28900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Figma × Framer 形态的 AI 应用创作工具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E74C2B-D4CC-4B60-BCFB-70802758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从一句想法开始，AI 生成；人继续精调；AI 读取人的修改，再继续创作。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612301-D812-40F2-BCB7-DE353E08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29150"/>
            <a:ext cx="47244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561B82-0AF5-4B8C-AA51-731B9901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426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Prompt → 生成 → 可视编辑 → AI 续改 → 发布</a:t>
            </a:r>
          </a:p>
        </p:txBody>
      </p:sp>
      <p:sp>
        <p:nvSpPr>
          <p:cNvPr id="1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F132645A-2F86-46F4-9EFF-785E5A1F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34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产品视频：本机 deamoy.ai.mp4（9:00）；本页画面截取自视频。</a:t>
            </a:r>
          </a:p>
        </p:txBody>
      </p:sp>
      <p:cxnSp>
        <p:nvCxnSpPr>
          <p:cNvPr id="70" name=""/>
          <p:cNvCxnSpPr/>
          <p:nvPr/>
        </p:nvCxnSpPr>
        <p:spPr>
          <a:xfrm xmlns:a="http://schemas.openxmlformats.org/drawingml/2006/main">
            <a:off x="400050" y="6400800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7D9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9F2E8F-4349-4347-B258-1FD4B094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判断 · 实践 · 更新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B2319-FA91-4672-8863-08625FD9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504248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4B72CF48-E78B-4CE2-99C0-3258F536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DEAMOY / EXTERNAL PROOF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E06BE8-8F9D-42C3-8ACA-AB07BA8E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11391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这不是一个概念：它被交付、被使用，也被公开评价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AD2BBC-F756-49ED-A457-35E85DE0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7334250" cy="4124325"/>
          </a:xfrm>
          <a:prstGeom xmlns:a="http://schemas.openxmlformats.org/drawingml/2006/main" prst="roundRect">
            <a:avLst>
              <a:gd name="adj" fmla="val 1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7D9"/>
            </a:solidFill>
            <a:prstDash val="solid"/>
          </a:ln>
        </p:spPr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9ace270e6642e5"/>
          <a:srcRect xmlns:a="http://schemas.openxmlformats.org/drawingml/2006/main" l="0" t="14" r="0" b="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85900"/>
            <a:ext cx="7334250" cy="4124325"/>
          </a:xfrm>
          <a:prstGeom xmlns:a="http://schemas.openxmlformats.org/drawingml/2006/main" prst="round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4A3451-E3FB-4E3C-8041-449B7255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85900"/>
            <a:ext cx="1790700" cy="18097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39A78-BB75-4062-B2AB-3880838E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33550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2 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61C69-DCBC-4200-A7B3-274CD1CE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52700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从判断到完整产品交付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868E21-09EB-4767-B7E0-1BF2DA48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485900"/>
            <a:ext cx="1790700" cy="18097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0F1F1"/>
          </a:solidFill>
          <a:ln xmlns:a="http://schemas.openxmlformats.org/drawingml/2006/main" w="0">
            <a:solidFill>
              <a:srgbClr val="F0F1F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42AC0E-A125-4E1A-A468-00738E06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33550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934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15488F-86BC-4088-A8F5-31B9645C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52700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Product Hunt 关注者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F1AC3A-C643-4F4D-99D7-10C6C4A2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67100"/>
            <a:ext cx="1790700" cy="18097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0F1F1"/>
          </a:solidFill>
          <a:ln xmlns:a="http://schemas.openxmlformats.org/drawingml/2006/main" w="0">
            <a:solidFill>
              <a:srgbClr val="F0F1F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3609C1-B6A1-48EB-A7F1-65452920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14750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156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8A0D85-E407-4437-9CB5-6C47D45D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533900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Product Hunt points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4388A9-BCF6-4053-BC95-7423423B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467100"/>
            <a:ext cx="1790700" cy="18097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217A03-E357-48DA-848A-210E6E20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714750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5.0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C9BF72-5B3B-482D-A49B-0C3C55A8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533900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5 条公开评价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2FBA9C-E9CE-4EDC-B0D3-32C4E88D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467350"/>
            <a:ext cx="3752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这些数字证明我们真正交付过；但它们不等于 PMF。</a:t>
            </a:r>
          </a:p>
        </p:txBody>
      </p:sp>
      <p:sp>
        <p:nvSpPr>
          <p:cNvPr id="18" name="source-note">
            <a:extLst xmlns:a="http://schemas.openxmlformats.org/drawingml/2006/main">
              <a:ext uri="{FF2B5EF4-FFF2-40B4-BE49-F238E27FC236}">
                <a16:creationId xmlns:a16="http://schemas.microsoft.com/office/drawing/2014/main" id="{B1CCD29A-5231-4064-B49E-F3FE193A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34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Source: Product Hunt — producthunt.com/products/deamoy-ai（访问于 2026-07-14）</a:t>
            </a:r>
          </a:p>
        </p:txBody>
      </p:sp>
      <p:cxnSp>
        <p:nvCxnSpPr>
          <p:cNvPr id="80" name=""/>
          <p:cNvCxnSpPr/>
          <p:nvPr/>
        </p:nvCxnSpPr>
        <p:spPr>
          <a:xfrm xmlns:a="http://schemas.openxmlformats.org/drawingml/2006/main">
            <a:off x="400050" y="6400800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7D9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888464-3962-46F9-A382-0B374245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判断 · 实践 · 更新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40825F-2DF5-4324-A0B5-F8D51B7D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126948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451613F9-0C9C-4E88-9C18-36BB925F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DEAMOY / COLLABORATION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F172BCD-BE2F-4146-9A09-C099308B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11391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当时我抓住的核心，不是“生成”，而是“协作”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2ACC4B-5298-43B7-BFCD-FFA3B9E3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62100"/>
            <a:ext cx="565785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7D9"/>
            </a:solidFill>
            <a:prstDash val="solid"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320ce99b2f422a"/>
          <a:srcRect xmlns:a="http://schemas.openxmlformats.org/drawingml/2006/main" l="57" t="0" r="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34100" y="1562100"/>
            <a:ext cx="5657850" cy="3390900"/>
          </a:xfrm>
          <a:prstGeom xmlns:a="http://schemas.openxmlformats.org/drawingml/2006/main" prst="round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738FE-54AE-4EB6-9BF6-0A9E5BE8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E2A5F1-68FE-453F-AC70-1ED1786C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430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 先做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E986B5-1277-4A58-89FB-6D1BE2A8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把意图转成第一版作品，而不是只给建议。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2C63B3-1E3E-4AD9-8CD0-E967B4D1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051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D059B4-564C-40D9-8099-CB9636D6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人继续改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A93ABE-FBA1-4354-8DF4-0D7EA16D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拖拽、调整、重排，做精细而确定的控制。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264081-3C1F-4A4E-93D1-7E1AC45C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290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704DA9-F960-4CF5-8462-FE56C356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 接着做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6D86FE-E813-4DFE-9FD5-EE7FF7F8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读懂人的修改，不推倒重来，继续完成下一步。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C5D237-DA95-4BD0-88DB-4035459F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81600"/>
            <a:ext cx="113728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CA9CF9-1DA9-413B-9F2E-D0D65278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72100"/>
            <a:ext cx="1072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关键判断：人和 AI 必须操作同一份、可持续演进的作品状态。</a:t>
            </a:r>
          </a:p>
        </p:txBody>
      </p:sp>
      <p:sp>
        <p:nvSpPr>
          <p:cNvPr id="16" name="source-note">
            <a:extLst xmlns:a="http://schemas.openxmlformats.org/drawingml/2006/main">
              <a:ext uri="{FF2B5EF4-FFF2-40B4-BE49-F238E27FC236}">
                <a16:creationId xmlns:a16="http://schemas.microsoft.com/office/drawing/2014/main" id="{411265B2-C6DA-4B39-B91D-320F6CC0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34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Source: Deamoy Product Hunt launch description and public product gallery.</a:t>
            </a:r>
          </a:p>
        </p:txBody>
      </p:sp>
      <p:cxnSp>
        <p:nvCxnSpPr>
          <p:cNvPr id="72" name=""/>
          <p:cNvCxnSpPr/>
          <p:nvPr/>
        </p:nvCxnSpPr>
        <p:spPr>
          <a:xfrm xmlns:a="http://schemas.openxmlformats.org/drawingml/2006/main">
            <a:off x="400050" y="6400800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7D9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84DCEA-9F5C-4A78-B443-4851839A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判断 · 实践 · 更新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5BB9D0-2038-42C2-88EF-B30FF0B2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475934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650BADAB-B68B-4E22-9BAF-87F6FC48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DEAMOY / CORE INNOVATION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4E36F4-3A99-4D07-A5DB-F6A50666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11391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最大的创新：人和 AI 通过一套 DSL 操作同一份作品</a:t>
            </a:r>
          </a:p>
        </p:txBody>
      </p:sp>
      <p:cxnSp>
        <p:nvCxnSpPr>
          <p:cNvPr id="68" name=""/>
          <p:cNvCxnSpPr/>
          <p:nvPr/>
        </p:nvCxnSpPr>
        <p:spPr>
          <a:xfrm xmlns:a="http://schemas.openxmlformats.org/drawingml/2006/main">
            <a:off x="2800350" y="3114675"/>
            <a:ext cx="66294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C48ABC-DF0D-4029-99AE-2C944573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717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可视操作写入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E85D27-B7A6-4A12-95FB-23C98FAB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7717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Agent 读写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70A60E-5E0D-46BA-99BA-E6ADEE4B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381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0F1F1"/>
          </a:solidFill>
          <a:ln xmlns:a="http://schemas.openxmlformats.org/drawingml/2006/main" w="0">
            <a:solidFill>
              <a:srgbClr val="F0F1F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A4A336-2A72-495A-AB82-10E3B5BD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50166D-8A03-43BA-A822-9DC05810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1924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人在界面里编辑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E781FB-943B-4598-919D-6F3D9198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1924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拖拽 · 调整 · 选择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精确控制可见结果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C3019E-54E7-4DA1-94ED-DAB48930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35814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C4DC82-D24D-40D1-A03D-E07D3D0C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002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协议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945AF9-431F-46C1-A689-F75A126E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62200"/>
            <a:ext cx="312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Visual DSL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1253F8-8BA6-4657-8CB9-67BE9DB7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67050"/>
            <a:ext cx="3124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结构 Structure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关系 Relation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属性 Property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状态 State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E7B5D0-0A33-467E-A98C-77CF73A4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2381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0F1F1"/>
          </a:solidFill>
          <a:ln xmlns:a="http://schemas.openxmlformats.org/drawingml/2006/main" w="0">
            <a:solidFill>
              <a:srgbClr val="F0F1F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E93688-5896-4E84-B66A-30A23AE4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241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C898AB-4BFE-4903-8789-01A5E31A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86050"/>
            <a:ext cx="1924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 读取并修改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7CF1EC-64B1-467B-86A7-5D8B299E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95650"/>
            <a:ext cx="1924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理解上下文 · 调工具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增量修改 · 继续完成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FAD9D9-3768-4483-856D-51B0D3B8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00600"/>
            <a:ext cx="92202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7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5E1D02-90A5-45FC-8D54-8F41F1D1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0101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这不是一个 UI 功能，而是一层底层协议：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A4A5BD-11CF-4276-872D-1C4C65B9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353050"/>
            <a:ext cx="796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让人的动作和 Agent 的动作可互相解释、可继续、可回放。</a:t>
            </a:r>
          </a:p>
        </p:txBody>
      </p:sp>
      <p:cxnSp>
        <p:nvCxnSpPr>
          <p:cNvPr id="86" name=""/>
          <p:cNvCxnSpPr/>
          <p:nvPr/>
        </p:nvCxnSpPr>
        <p:spPr>
          <a:xfrm xmlns:a="http://schemas.openxmlformats.org/drawingml/2006/main">
            <a:off x="400050" y="6400800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7D9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4D8605-9232-4E76-9C58-0440F406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判断 · 实践 · 更新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154CF6-D116-491C-A6DC-BC970875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780078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B9F4541E-C5E7-461C-A648-67B0BF76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DEAMOY / COMPLEXITY BOUNDARY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45E4A6F-8ECB-4EE0-8031-8B9F1E43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11391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后来我发现，Deamoy 卡住的不是生成速度，而是复杂度边界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D46043-3F60-4E27-9D33-8B035E7A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38300"/>
            <a:ext cx="50482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B7C845-B55F-46C1-A153-74A1C8F5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26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看得见的部分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46A547-70F5-4409-A552-CE375D91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426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布局 · 样式 · 组件 · 页面结构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59F7DB-1574-474B-9875-0F21637D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90850"/>
            <a:ext cx="50482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05C86B-1E0A-45AE-9FDD-F4C31EDD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真正决定能否交付的部分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316D89-57F9-48B0-84A8-C62C97C8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· 业务规则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915346-1C58-4BEC-A0E0-EF28288F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905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· 状态流转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CB4732-E080-4B16-BF16-15B28D25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53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· 权限边界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986433-B17F-45AD-A6BD-8DEF0F88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3053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· 异常处理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4F3EE3-3594-4FD7-BAD1-2BF8302A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· 数据一致性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D529D8-4876-4634-9663-2E0A675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7053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· 外部集成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1EC420-735C-470B-A73B-C2281E63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· 历史迁移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B1AE4C-EEA3-4E5E-BA51-5833120F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· 长期维护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A4B98F-1E57-4578-8388-D214465F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097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我们试图用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452B76-DF61-4957-99CB-5F988980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66950"/>
            <a:ext cx="457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20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视觉 DSL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9BC8B7-DB19-4498-BF6A-C9D35308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9562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主导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E96F78-6B38-4FE5-8F58-C18FA3B9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24250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开放业务语义</a:t>
            </a:r>
          </a:p>
        </p:txBody>
      </p:sp>
      <p:cxnSp>
        <p:nvCxnSpPr>
          <p:cNvPr id="88" name=""/>
          <p:cNvCxnSpPr/>
          <p:nvPr/>
        </p:nvCxnSpPr>
        <p:spPr>
          <a:xfrm xmlns:a="http://schemas.openxmlformats.org/drawingml/2006/main">
            <a:off x="6134100" y="4600575"/>
            <a:ext cx="493395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33A064-5AB3-48CA-A4E1-E6B7AAD9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838700"/>
            <a:ext cx="523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问题不在 AI 不够强，而在对象没有有限边界。</a:t>
            </a:r>
          </a:p>
        </p:txBody>
      </p:sp>
      <p:cxnSp>
        <p:nvCxnSpPr>
          <p:cNvPr id="90" name=""/>
          <p:cNvCxnSpPr/>
          <p:nvPr/>
        </p:nvCxnSpPr>
        <p:spPr>
          <a:xfrm xmlns:a="http://schemas.openxmlformats.org/drawingml/2006/main">
            <a:off x="400050" y="6400800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7D9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F07297-74A2-41A2-B4C9-0721A0D3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判断 · 实践 · 更新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A142CC-FE8C-47FD-8E80-1C68D8B4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670609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EE4251D0-606B-4780-9080-880A7C44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COGNITION UPDATE / COMPLEX SYSTEMS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22CBD3-8762-4B8B-AC40-FC6BB602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08585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9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复杂系统不是大量代码堆砌而成，</a:t>
            </a:r>
          </a:p>
          <a:p xmlns:a="http://schemas.openxmlformats.org/drawingml/2006/main">
            <a:pPr algn="l">
              <a:buNone/>
              <a:defRPr sz="39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9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而是大量细节被逐一兑现。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A58989-C267-4031-A76E-C0CD3331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7175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C6C8C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 i="0">
                <a:solidFill>
                  <a:srgbClr val="C6C8CA"/>
                </a:solidFill>
                <a:latin typeface="PingFang SC"/>
                <a:ea typeface="PingFang SC"/>
                <a:cs typeface="PingFang SC"/>
              </a:rPr>
              <a:t>AI Coding 降低的是写代码的成本；没有消失的是定义、验证、取舍和承担细节的成本。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A54CBC-B1EF-4D42-AF6B-5F7E0F5B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52850"/>
            <a:ext cx="1619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97EA2A-BA86-432B-B60F-D0A28632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243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845DF1-85B6-43AD-A3BF-3EABACB6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43400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定义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671F55-7EAA-44D7-ABEA-932B0909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52850"/>
            <a:ext cx="1619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85ECD2-782D-4D1B-A6B9-B9F2BF33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9243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4BC49D-1C2E-421C-87D3-1100140F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343400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验证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D8FCF9-5152-446E-A20E-B6F066B8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752850"/>
            <a:ext cx="1619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8EBB53-28A9-47A0-B1BE-C96B4DBA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243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4B2DCD-AE81-4CE7-B7BA-F21BDD4D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343400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异常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F6726A-D2CB-478B-B0BE-A08D0E55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52850"/>
            <a:ext cx="1619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065596-342D-47D8-809D-959B6400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243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CB4B19-C50A-40DE-BE0E-F57A9360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43400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取舍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044884-6C6A-4F76-92A8-67B13363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52850"/>
            <a:ext cx="1619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77598C-96C4-4F5A-9A23-CA7808A8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243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12B25E-29A6-4066-BB6F-BF35D3D1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43400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迁移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5082AC-43A1-4E89-A172-8F5F6537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752850"/>
            <a:ext cx="1619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E5C904-624C-4F04-968B-CD8DF376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9243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 i="0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079DB2-5418-41AB-83A2-27258CD8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343400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维护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A09AAB-B14D-4901-971B-BF11ADF3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9115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 i="0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软件没有银弹，在 AI Coding 时代仍然成立。</a:t>
            </a:r>
          </a:p>
        </p:txBody>
      </p:sp>
      <p:cxnSp>
        <p:nvCxnSpPr>
          <p:cNvPr id="94" name=""/>
          <p:cNvCxnSpPr/>
          <p:nvPr/>
        </p:nvCxnSpPr>
        <p:spPr>
          <a:xfrm xmlns:a="http://schemas.openxmlformats.org/drawingml/2006/main">
            <a:off x="400050" y="6400800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C3C3C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8E49B9-D774-439A-A3B1-9F6088B4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A8AAAE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A8AAAE"/>
                </a:solidFill>
                <a:latin typeface="PingFang SC"/>
                <a:ea typeface="PingFang SC"/>
                <a:cs typeface="PingFang SC"/>
              </a:rPr>
              <a:t>判断 · 实践 · 更新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EC48DF-228A-4491-B226-17F15E99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A8AAAE"/>
                </a:solidFill>
                <a:latin typeface="PingFang SC"/>
                <a:ea typeface="PingFang SC"/>
                <a:cs typeface="PingFang SC"/>
              </a:defRPr>
            </a:pPr>
            <a:r>
              <a:rPr sz="825" b="0" i="0">
                <a:solidFill>
                  <a:srgbClr val="A8AAAE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622615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E6810A05-05BD-43BA-9727-B8D14C49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COGNITION UPDATE / DSL BOUNDARY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F92EC96-6A5A-4758-9EF6-32B63380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11391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DSL 的两难：足够简单表达不了复杂应用；足够强最终就是代码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0CFAC3-E604-44DD-AF51-0CF1450F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76400"/>
            <a:ext cx="53149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8EE651-8B29-4A44-9B0D-D63AC05C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6C8855-9052-4205-86D9-063371BD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288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足够简单的 DSL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7A15A7-8AB0-4289-81F2-5CBD5F9E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485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优点：稳定、可视、可检查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代价：只能覆盖有限对象；一旦遇到开放业务细节，就不断加补丁和例外。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9BCE7C-28C7-47D0-AE80-DA50A386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76400"/>
            <a:ext cx="57340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0F1F1"/>
          </a:solidFill>
          <a:ln xmlns:a="http://schemas.openxmlformats.org/drawingml/2006/main" w="0">
            <a:solidFill>
              <a:srgbClr val="F0F1F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07B2A5-1678-44C4-AA0B-4ED6F0B5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66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442525-64DA-4C57-BF01-E7706F8F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28850"/>
            <a:ext cx="5276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足够强的 DSL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947B3B-932F-4048-BE98-70E13940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76550"/>
            <a:ext cx="52768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优点：理论上能表达复杂系统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代价：逐渐拥有变量、条件、状态、依赖与调试——最终重新成为代码。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5C730D-EB5C-43E6-8E32-89253DA9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62550"/>
            <a:ext cx="9906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B179C0-45BF-4D51-9A13-148F673A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816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结论：DSL 适合边界清晰的创作领域；通用应用无法靠一种视觉 DSL 兜底。</a:t>
            </a:r>
          </a:p>
        </p:txBody>
      </p:sp>
      <p:cxnSp>
        <p:nvCxnSpPr>
          <p:cNvPr id="54" name=""/>
          <p:cNvCxnSpPr/>
          <p:nvPr/>
        </p:nvCxnSpPr>
        <p:spPr>
          <a:xfrm xmlns:a="http://schemas.openxmlformats.org/drawingml/2006/main">
            <a:off x="400050" y="6400800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7D9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191035-25A1-4684-A5FE-A1092EC5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判断 · 实践 · 更新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5825E3-D0A0-4BDC-9CCA-2681481F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824069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C67113E4-F6D7-4DBE-8A1C-69982B09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FOUNDER JUDGMENT / STOP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BDEFD3-DA9D-497D-AD74-E9480966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066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80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480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“先停下惯性思维。”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F77E36-0853-4A3D-ACAB-F8635F1B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这句话后来成为我停下 Deamoy 的真正原因之一。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419100" y="2895600"/>
            <a:ext cx="1137285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513321-DADE-45E5-B50B-FB66661F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766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表象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86BCFB-3B4F-4F6D-9E4B-9F639493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14750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数据没有继续增长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F799AD-AA0C-4415-A3E9-518CE618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624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继续烧钱也可能只是在延长惯性。</a:t>
            </a:r>
          </a:p>
        </p:txBody>
      </p:sp>
      <p:cxnSp>
        <p:nvCxnSpPr>
          <p:cNvPr id="52" name=""/>
          <p:cNvCxnSpPr/>
          <p:nvPr/>
        </p:nvCxnSpPr>
        <p:spPr>
          <a:xfrm xmlns:a="http://schemas.openxmlformats.org/drawingml/2006/main">
            <a:off x="5905500" y="3200400"/>
            <a:ext cx="953" cy="18288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7D9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553B65-8075-404C-9A64-E9596187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766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底层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386F5F-4D96-47F1-96D3-7E319746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147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命题无法稳定交付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D4C7AF-05E8-4ABB-B30F-8B5F43F1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624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开放应用复杂度与视觉 DSL 错配。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4B3E0C-FF39-4B4F-B914-95CA567F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19700"/>
            <a:ext cx="113728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BC3636-4844-4622-B633-F4083F22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0200"/>
            <a:ext cx="1061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停止投入  →  拥抱 AI Native  →  用单人实践重建判断</a:t>
            </a:r>
          </a:p>
        </p:txBody>
      </p:sp>
      <p:cxnSp>
        <p:nvCxnSpPr>
          <p:cNvPr id="58" name=""/>
          <p:cNvCxnSpPr/>
          <p:nvPr/>
        </p:nvCxnSpPr>
        <p:spPr>
          <a:xfrm xmlns:a="http://schemas.openxmlformats.org/drawingml/2006/main">
            <a:off x="400050" y="6400800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7D9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DE9999-E04B-4D0A-A793-ED309DD9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判断 · 实践 · 更新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A4CBE3-7152-4917-9FEC-C61BA2A5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979189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E90AAB7B-0743-4958-BBC3-74941531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AI NATIVE / SOLO PRACTICE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E2CBAA-F412-4388-8AA5-E5B6C18F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11391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停下来以后，我用单人实践重建认知，而不是等一个方向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CC2F60-B7C7-4EC0-8877-B1F922AE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81125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每一步都不是换产品，而是在回答上一步没有回答的问题。</a:t>
            </a:r>
          </a:p>
        </p:txBody>
      </p:sp>
      <p:cxnSp>
        <p:nvCxnSpPr>
          <p:cNvPr id="81" name=""/>
          <p:cNvCxnSpPr/>
          <p:nvPr/>
        </p:nvCxnSpPr>
        <p:spPr>
          <a:xfrm xmlns:a="http://schemas.openxmlformats.org/drawingml/2006/main">
            <a:off x="781050" y="3333750"/>
            <a:ext cx="1045845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D71986-9A9F-47B9-80AE-AC242BE7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89DB3D-ABE5-46EB-BEA4-776C8C76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240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Deamoy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348300-BAF4-44F1-A9A0-CE6F0C6C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人机协作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2FEC6-AC16-482D-A196-E9B16862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共享状态与双向编辑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0DE45E-6881-472F-AF99-85006DB7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C29A7A-4E43-4E70-A3B5-64C059F5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1240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StarCut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8F3A8D-9A90-41AA-BA3E-7C9A7ABA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71750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专业视频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E65B2E-61BC-4F42-8FCF-C4A8604A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67665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把边界收窄到视频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DADE66-2BC8-48E5-9FDE-5A0B117B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B3F8B3-4E93-4087-A92A-DD32EF1F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240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VibePaper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160070-6DCA-4EB1-B3C7-743C89C8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Agent 世界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28C26E-A491-4C03-A5EB-8B855549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7665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画布承载对象与过程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A6FD64-B6B8-4288-8591-E7EF8FC8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9B37A4-8B32-4BE8-B560-6555663E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240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Creative 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F03D18-BA5B-4AAD-A237-41938A54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71750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垂直操作系统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D985A6-D227-4736-AFF1-A5AF6171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67665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承接意图、维护上下文、组织行动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D70221-85BC-4E6C-A97B-D6E08FC4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19650"/>
            <a:ext cx="113728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0F1F1"/>
          </a:solidFill>
          <a:ln xmlns:a="http://schemas.openxmlformats.org/drawingml/2006/main" w="0">
            <a:solidFill>
              <a:srgbClr val="F0F1F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9D7687-E70B-43BF-AED4-AFF73227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路径索引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B6A423-EB98-4B78-A57F-295DD0B8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00625"/>
            <a:ext cx="939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低代码经验  →  VibeCoding  →  创作工具  →  Agent 世界  →  Creative 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13D7C8-1B5A-4240-9973-27CA9548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495925"/>
            <a:ext cx="939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低代码只作为背景；重点是认知如何从协作协议走向可被 Agent 操作的世界。</a:t>
            </a:r>
          </a:p>
        </p:txBody>
      </p:sp>
      <p:cxnSp>
        <p:nvCxnSpPr>
          <p:cNvPr id="102" name=""/>
          <p:cNvCxnSpPr/>
          <p:nvPr/>
        </p:nvCxnSpPr>
        <p:spPr>
          <a:xfrm xmlns:a="http://schemas.openxmlformats.org/drawingml/2006/main">
            <a:off x="400050" y="6400800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7D9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28DEF8-7EFB-4AF1-BD41-FBF3BEAE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判断 · 实践 · 更新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69D30F-7AD1-4CB2-A532-67992424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681677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CDC9AD71-27F6-45E9-932A-E20C80F6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STARCUT / COGNITIVE EXPERIMENT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46A7FBC-DFD2-4D8B-9EC2-C0FF4384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113919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StarCut 的意义，不是再做一个剪辑器，</a:t>
            </a:r>
          </a:p>
          <a:p xmlns:a="http://schemas.openxmlformats.org/drawingml/2006/main">
            <a:pPr algn="l">
              <a:buNone/>
              <a:defRPr sz="30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而是验证：Agent 能否在有边界的世界里稳定工作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26e44e859a4b54"/>
          <a:stretch xmlns:a="http://schemas.openxmlformats.org/drawingml/2006/main"/>
        </p:blipFill>
        <p:spPr>
          <a:xfrm xmlns:a="http://schemas.openxmlformats.org/drawingml/2006/main">
            <a:off x="419100" y="1790700"/>
            <a:ext cx="914400" cy="914400"/>
          </a:xfrm>
          <a:prstGeom xmlns:a="http://schemas.openxmlformats.org/drawingml/2006/main" prst="round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F0D538-FDB3-49AC-A8DF-55E93270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8478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StarCut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640354-A60F-4B41-8602-0F42356D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622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视频不是终局，是一个更适合验证 Agent 的创作场。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28623D-38BD-4289-8F6A-98421392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81350"/>
            <a:ext cx="356235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0F1F1"/>
          </a:solidFill>
          <a:ln xmlns:a="http://schemas.openxmlformats.org/drawingml/2006/main" w="0">
            <a:solidFill>
              <a:srgbClr val="F0F1F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CF440A-5E72-4669-821C-1D3002C9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718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50398A-15A4-4004-932B-D5A6D4BF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33800"/>
            <a:ext cx="3105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对象有边界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F7C7F2-A75E-47C2-8F5F-A0A40DD7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310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作品虽然复杂，但基本对象有限，世界可以被描述。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59807C-AA25-4470-AB48-4DC72524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181350"/>
            <a:ext cx="356235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2D002A-6D22-4EDE-B7B4-790E96C9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718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49A3CD-DB6C-4E91-8378-E2133A17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733800"/>
            <a:ext cx="3105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过程看得见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C9309D-9A0C-4AAD-A3E3-8CD1B3C5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305300"/>
            <a:ext cx="310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人的修改与 Agent 的动作落在同一条可编辑路径上。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10101B-F2C3-4057-BD3F-E3D02369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81350"/>
            <a:ext cx="356235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0F1F1"/>
          </a:solidFill>
          <a:ln xmlns:a="http://schemas.openxmlformats.org/drawingml/2006/main" w="0">
            <a:solidFill>
              <a:srgbClr val="F0F1F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A970FD-E10C-4FB3-809E-50098E9C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718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23DDE6-2B73-42CE-AB58-64A76D0A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33800"/>
            <a:ext cx="3105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结果可验证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15CDA0-00DD-4483-904D-5F530A46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05300"/>
            <a:ext cx="3105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预览与成片给出明确反馈，错误可以定位、纠正和重来。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671EA7-C883-4E04-A2C5-71F9466E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9906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DD6FE8-2D30-4147-BF7F-8857496C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7690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认知更新：DSL 不是卖点，而是给 Agent 规定世界法则。</a:t>
            </a:r>
          </a:p>
        </p:txBody>
      </p:sp>
      <p:cxnSp>
        <p:nvCxnSpPr>
          <p:cNvPr id="84" name=""/>
          <p:cNvCxnSpPr/>
          <p:nvPr/>
        </p:nvCxnSpPr>
        <p:spPr>
          <a:xfrm xmlns:a="http://schemas.openxmlformats.org/drawingml/2006/main">
            <a:off x="400050" y="6400800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7D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A18B91-C4D9-4FEF-8B6A-D17B5203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判断 · 实践 · 更新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BECAF7-954C-4A1E-B311-D5E96C10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34786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759FE0F0-48E3-4A74-ABBB-3346AD09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VIBEPAPER / AGENT WORLD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DAF53E-67E5-40D9-8EB6-35250DDB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113919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Agent 需要的不是更多工具，</a:t>
            </a:r>
          </a:p>
          <a:p xmlns:a="http://schemas.openxmlformats.org/drawingml/2006/main">
            <a:pPr algn="l">
              <a:buNone/>
              <a:defRPr sz="30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而是一个可以感知、行动和留下结果的世界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A34210-2F66-4482-86E1-603AE7B1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097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WORLD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E7DFC2-D252-4C6E-BDD1-08C433CE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716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画布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3B2BB4-0ADF-4F65-8D03-66B8FC48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907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承载上下文、过程与结果</a:t>
            </a:r>
          </a:p>
        </p:txBody>
      </p:sp>
      <p:cxnSp>
        <p:nvCxnSpPr>
          <p:cNvPr id="81" name=""/>
          <p:cNvCxnSpPr/>
          <p:nvPr/>
        </p:nvCxnSpPr>
        <p:spPr>
          <a:xfrm xmlns:a="http://schemas.openxmlformats.org/drawingml/2006/main">
            <a:off x="419100" y="2590800"/>
            <a:ext cx="46863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7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C30A3A-8EB3-4086-A070-465F33E7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051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OBJECT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9F35AB-7074-4DE3-ADA5-1559B8C8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节点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2CBCAB-947A-494C-B876-89E37462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861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图片、视频、文档、音频与页面</a:t>
            </a:r>
          </a:p>
        </p:txBody>
      </p:sp>
      <p:cxnSp>
        <p:nvCxnSpPr>
          <p:cNvPr id="85" name=""/>
          <p:cNvCxnSpPr/>
          <p:nvPr/>
        </p:nvCxnSpPr>
        <p:spPr>
          <a:xfrm xmlns:a="http://schemas.openxmlformats.org/drawingml/2006/main">
            <a:off x="419100" y="3486150"/>
            <a:ext cx="46863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7D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346B38-B879-4E17-AF7F-96926204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004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RELATION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810B44-3BD9-4B93-8EFD-8741BF10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623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引用 / 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7E9F92-F84E-4BC0-8EEE-C36D4E38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814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表达依赖、版本与组合关系</a:t>
            </a:r>
          </a:p>
        </p:txBody>
      </p:sp>
      <p:cxnSp>
        <p:nvCxnSpPr>
          <p:cNvPr id="89" name=""/>
          <p:cNvCxnSpPr/>
          <p:nvPr/>
        </p:nvCxnSpPr>
        <p:spPr>
          <a:xfrm xmlns:a="http://schemas.openxmlformats.org/drawingml/2006/main">
            <a:off x="419100" y="4381500"/>
            <a:ext cx="46863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7D9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2B23C9-AA95-4225-A469-8FB00420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958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1F149B-4D72-4EB7-99DF-47CA1FCA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577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工具 /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9BBCF9-A662-4C7D-AADA-C0C3136C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读取、生成、修改、校验与发布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3C8778-6341-49BD-94AD-5751C5FB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581150"/>
            <a:ext cx="62674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7D9"/>
            </a:solidFill>
            <a:prstDash val="solid"/>
          </a:ln>
        </p:spPr>
      </p:sp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ec2220a90e4c47"/>
          <a:srcRect xmlns:a="http://schemas.openxmlformats.org/drawingml/2006/main" l="0" t="16903" r="0" b="169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0" y="1581150"/>
            <a:ext cx="6267450" cy="2333625"/>
          </a:xfrm>
          <a:prstGeom xmlns:a="http://schemas.openxmlformats.org/drawingml/2006/main" prst="round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6C9655-D289-440F-8774-6ACEFFBB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076700"/>
            <a:ext cx="62674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7D9"/>
            </a:solidFill>
            <a:prstDash val="solid"/>
          </a:ln>
        </p:spPr>
      </p:sp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6fe42afa1e4229"/>
          <a:srcRect xmlns:a="http://schemas.openxmlformats.org/drawingml/2006/main" l="0" t="22789" r="0" b="227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0" y="4076700"/>
            <a:ext cx="6267450" cy="1790700"/>
          </a:xfrm>
          <a:prstGeom xmlns:a="http://schemas.openxmlformats.org/drawingml/2006/main" prst="roundRect">
            <a:avLst/>
          </a:prstGeom>
        </p:spPr>
      </p:pic>
      <p:sp>
        <p:nvSpPr>
          <p:cNvPr id="22" name="source-note">
            <a:extLst xmlns:a="http://schemas.openxmlformats.org/drawingml/2006/main">
              <a:ext uri="{FF2B5EF4-FFF2-40B4-BE49-F238E27FC236}">
                <a16:creationId xmlns:a16="http://schemas.microsoft.com/office/drawing/2014/main" id="{18130227-3D1E-4442-971C-96FC2662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34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Source: vibepaper-ai.com and VibePaper public product assets（访问于 2026-07-14）</a:t>
            </a:r>
          </a:p>
        </p:txBody>
      </p:sp>
      <p:cxnSp>
        <p:nvCxnSpPr>
          <p:cNvPr id="98" name=""/>
          <p:cNvCxnSpPr/>
          <p:nvPr/>
        </p:nvCxnSpPr>
        <p:spPr>
          <a:xfrm xmlns:a="http://schemas.openxmlformats.org/drawingml/2006/main">
            <a:off x="400050" y="6400800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7D9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1884F7-DCEF-47F7-B6D1-800F3556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判断 · 实践 · 更新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3032D3-AFE4-45D4-8EC2-108E88AF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289212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574DBC0E-3047-419A-B2F3-743D0FBE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DEAMOY 2.0 / CREATIVE OS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483996-0E91-4864-AE00-5B35B73C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11391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Deamoy 2.0：创作领域的操作系统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B33E15-DDC9-4748-8A46-CC8DA6DC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6207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它承接创作意图、维护长期上下文，并调度 StarCut、VibePaper 等专业创作系统。</a:t>
            </a:r>
          </a:p>
        </p:txBody>
      </p:sp>
      <p:cxnSp>
        <p:nvCxnSpPr>
          <p:cNvPr id="114" name=""/>
          <p:cNvCxnSpPr/>
          <p:nvPr/>
        </p:nvCxnSpPr>
        <p:spPr>
          <a:xfrm xmlns:a="http://schemas.openxmlformats.org/drawingml/2006/main">
            <a:off x="2647950" y="2457450"/>
            <a:ext cx="116205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5D7D9"/>
            </a:solidFill>
            <a:prstDash val="solid"/>
          </a:ln>
        </p:spPr>
      </p:cxnSp>
      <p:cxnSp>
        <p:nvCxnSpPr>
          <p:cNvPr id="115" name=""/>
          <p:cNvCxnSpPr/>
          <p:nvPr/>
        </p:nvCxnSpPr>
        <p:spPr>
          <a:xfrm xmlns:a="http://schemas.openxmlformats.org/drawingml/2006/main">
            <a:off x="2647950" y="4362450"/>
            <a:ext cx="116205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5D7D9"/>
            </a:solidFill>
            <a:prstDash val="solid"/>
          </a:ln>
        </p:spPr>
      </p:cxnSp>
      <p:cxnSp>
        <p:nvCxnSpPr>
          <p:cNvPr id="116" name=""/>
          <p:cNvCxnSpPr/>
          <p:nvPr/>
        </p:nvCxnSpPr>
        <p:spPr>
          <a:xfrm xmlns:a="http://schemas.openxmlformats.org/drawingml/2006/main">
            <a:off x="8382000" y="2457450"/>
            <a:ext cx="116205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5D7D9"/>
            </a:solidFill>
            <a:prstDash val="solid"/>
          </a:ln>
        </p:spPr>
      </p:cxnSp>
      <p:cxnSp>
        <p:nvCxnSpPr>
          <p:cNvPr id="117" name=""/>
          <p:cNvCxnSpPr/>
          <p:nvPr/>
        </p:nvCxnSpPr>
        <p:spPr>
          <a:xfrm xmlns:a="http://schemas.openxmlformats.org/drawingml/2006/main">
            <a:off x="8382000" y="4362450"/>
            <a:ext cx="116205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5D7D9"/>
            </a:solidFill>
            <a:prstDash val="solid"/>
          </a:ln>
        </p:spPr>
      </p:cxnSp>
      <p:cxnSp>
        <p:nvCxnSpPr>
          <p:cNvPr id="118" name=""/>
          <p:cNvCxnSpPr/>
          <p:nvPr/>
        </p:nvCxnSpPr>
        <p:spPr>
          <a:xfrm xmlns:a="http://schemas.openxmlformats.org/drawingml/2006/main">
            <a:off x="4876800" y="4457700"/>
            <a:ext cx="953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5D7D9"/>
            </a:solidFill>
            <a:prstDash val="solid"/>
          </a:ln>
        </p:spPr>
      </p:cxnSp>
      <p:cxnSp>
        <p:nvCxnSpPr>
          <p:cNvPr id="119" name=""/>
          <p:cNvCxnSpPr/>
          <p:nvPr/>
        </p:nvCxnSpPr>
        <p:spPr>
          <a:xfrm xmlns:a="http://schemas.openxmlformats.org/drawingml/2006/main">
            <a:off x="7677150" y="4457700"/>
            <a:ext cx="953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5D7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F051FE-7EF0-45B8-9B58-64A67362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1930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0F1F1"/>
          </a:solidFill>
          <a:ln xmlns:a="http://schemas.openxmlformats.org/drawingml/2006/main" w="0">
            <a:solidFill>
              <a:srgbClr val="F0F1F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E5E8C9-2D90-40ED-8B79-CA6CFC34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创作意图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BA8A61-D6C0-4AB4-BC3E-E5043427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从目标开始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A5E434-62A8-4525-84CF-358931CA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9621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0F1F1"/>
          </a:solidFill>
          <a:ln xmlns:a="http://schemas.openxmlformats.org/drawingml/2006/main" w="0">
            <a:solidFill>
              <a:srgbClr val="F0F1F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403018-1D95-4660-927B-DE6B98E4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专业视频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5FEF13-9EAC-40F5-BA5D-D81F9496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38650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StarCut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1D62B6-DEDE-495C-84A4-BC429AEF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01930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0F1F1"/>
          </a:solidFill>
          <a:ln xmlns:a="http://schemas.openxmlformats.org/drawingml/2006/main" w="0">
            <a:solidFill>
              <a:srgbClr val="F0F1F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520752-F250-4370-AA94-7D996008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17170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多模态画布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85276D-1944-4B21-B140-7CB01AB8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146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VibePaper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09AA41-25A5-417F-B968-D834F228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94335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0F1F1"/>
          </a:solidFill>
          <a:ln xmlns:a="http://schemas.openxmlformats.org/drawingml/2006/main" w="0">
            <a:solidFill>
              <a:srgbClr val="F0F1F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C4B433-1912-46CC-BA74-AF1B4C33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957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模型与工具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AB35E0-A9BA-4EEF-AB66-6EB65019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43865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生成、理解与执行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C6DABF-1546-4532-B1CD-7799EF3C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010150"/>
            <a:ext cx="209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0F1F1"/>
          </a:solidFill>
          <a:ln xmlns:a="http://schemas.openxmlformats.org/drawingml/2006/main" w="0">
            <a:solidFill>
              <a:srgbClr val="F0F1F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2D9B1B-14CC-489C-8A62-BFE11D17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625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作品上下文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362EF7-F749-4574-B36F-AE9F4704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50545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文件、状态与记忆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8C441C-3280-4D6C-9F2A-1EEB25FB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010150"/>
            <a:ext cx="209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0F1F1"/>
          </a:solidFill>
          <a:ln xmlns:a="http://schemas.openxmlformats.org/drawingml/2006/main" w="0">
            <a:solidFill>
              <a:srgbClr val="F0F1F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1AFB68-A5EC-4783-8FDC-654C0CF6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1625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发布与交付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07BB9D-030E-47AE-BE6C-5E07B62D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50545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从草稿到成片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C4704B-52A8-46F9-9BA5-1AC1F710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66950"/>
            <a:ext cx="4572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FDFFE6-FA7F-40E1-9B50-74D49AC7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571750"/>
            <a:ext cx="3733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3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Deamoy 2.0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8508AB-5BA8-45A3-84E4-69A3C8C6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62300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Creative 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A2A8E9-8B23-4E8A-84E2-5C85415D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90950"/>
            <a:ext cx="396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D8DAD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 i="0">
                <a:solidFill>
                  <a:srgbClr val="D8DADD"/>
                </a:solidFill>
                <a:latin typeface="PingFang SC"/>
                <a:ea typeface="PingFang SC"/>
                <a:cs typeface="PingFang SC"/>
              </a:rPr>
              <a:t>意图 · 上下文 · Agent Runtime · 调度</a:t>
            </a:r>
          </a:p>
        </p:txBody>
      </p:sp>
      <p:cxnSp>
        <p:nvCxnSpPr>
          <p:cNvPr id="142" name=""/>
          <p:cNvCxnSpPr/>
          <p:nvPr/>
        </p:nvCxnSpPr>
        <p:spPr>
          <a:xfrm xmlns:a="http://schemas.openxmlformats.org/drawingml/2006/main">
            <a:off x="571500" y="5943600"/>
            <a:ext cx="110490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7D9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BB9D5B-3C3D-4B0D-B242-696898CF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38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StarCut = 专业视频世界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637569-D159-4A9B-8D57-87CBC2DC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038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VibePaper = 多模态创作世界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25E6E3-8BEF-48C8-AF6F-FB30553D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038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Creative OS = 统一入口与运行层</a:t>
            </a:r>
          </a:p>
        </p:txBody>
      </p:sp>
      <p:cxnSp>
        <p:nvCxnSpPr>
          <p:cNvPr id="146" name=""/>
          <p:cNvCxnSpPr/>
          <p:nvPr/>
        </p:nvCxnSpPr>
        <p:spPr>
          <a:xfrm xmlns:a="http://schemas.openxmlformats.org/drawingml/2006/main">
            <a:off x="400050" y="6400800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7D9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8AF880-7DF3-4BC1-B0C6-D3CAB931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判断 · 实践 · 更新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DF8F14-08F8-42F3-8EE5-547938D6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680534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86312DFB-599D-4468-98C4-64498E3D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AGENT / PHILOSOPHY INTO ENGINEERING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850C51-9222-4809-A73E-A508E5A4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11391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我对 Agent 的理解，最终落到几个哲学问题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5838B-3C6C-4E2C-8FF4-45AA3E8D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57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Prompt 不是话术。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ABB563-840A-4F06-AEDC-C1CB6F07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4790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C8CAC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 i="0">
                <a:solidFill>
                  <a:srgbClr val="C8CACC"/>
                </a:solidFill>
                <a:latin typeface="PingFang SC"/>
                <a:ea typeface="PingFang SC"/>
                <a:cs typeface="PingFang SC"/>
              </a:rPr>
              <a:t>它是在指定一个世界如何运行：</a:t>
            </a:r>
          </a:p>
          <a:p xmlns:a="http://schemas.openxmlformats.org/drawingml/2006/main">
            <a:pPr algn="l">
              <a:buNone/>
              <a:defRPr sz="1800" b="0" i="0">
                <a:solidFill>
                  <a:srgbClr val="C8CAC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 i="0">
                <a:solidFill>
                  <a:srgbClr val="C8CACC"/>
                </a:solidFill>
                <a:latin typeface="PingFang SC"/>
                <a:ea typeface="PingFang SC"/>
                <a:cs typeface="PingFang SC"/>
              </a:rPr>
              <a:t>对象、法则、权限、边界与恢复方式。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F87601-EC4E-4A56-9CD1-B5DEBFB5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147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Memory 不是存储。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DF4C4B-E9B1-45BD-A19A-07BF3C54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0530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C8CAC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 i="0">
                <a:solidFill>
                  <a:srgbClr val="C8CACC"/>
                </a:solidFill>
                <a:latin typeface="PingFang SC"/>
                <a:ea typeface="PingFang SC"/>
                <a:cs typeface="PingFang SC"/>
              </a:rPr>
              <a:t>它是认知代谢：选择、压缩、更新、遗忘，</a:t>
            </a:r>
          </a:p>
          <a:p xmlns:a="http://schemas.openxmlformats.org/drawingml/2006/main">
            <a:pPr algn="l">
              <a:buNone/>
              <a:defRPr sz="1800" b="0" i="0">
                <a:solidFill>
                  <a:srgbClr val="C8CAC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 i="0">
                <a:solidFill>
                  <a:srgbClr val="C8CACC"/>
                </a:solidFill>
                <a:latin typeface="PingFang SC"/>
                <a:ea typeface="PingFang SC"/>
                <a:cs typeface="PingFang SC"/>
              </a:rPr>
              <a:t>让 Agent 卸下负担，保持连续。</a:t>
            </a:r>
          </a:p>
        </p:txBody>
      </p:sp>
      <p:cxnSp>
        <p:nvCxnSpPr>
          <p:cNvPr id="75" name=""/>
          <p:cNvCxnSpPr/>
          <p:nvPr/>
        </p:nvCxnSpPr>
        <p:spPr>
          <a:xfrm xmlns:a="http://schemas.openxmlformats.org/drawingml/2006/main">
            <a:off x="5524500" y="1581150"/>
            <a:ext cx="953" cy="40957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53535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805400-FB34-481A-BC2B-DBAB446A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19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世界由什么构成？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4FE0E7-3D42-407A-B554-418DE1E0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38300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i="0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Ontology · Canvas · Object Model</a:t>
            </a:r>
          </a:p>
        </p:txBody>
      </p:sp>
      <p:cxnSp>
        <p:nvCxnSpPr>
          <p:cNvPr id="78" name=""/>
          <p:cNvCxnSpPr/>
          <p:nvPr/>
        </p:nvCxnSpPr>
        <p:spPr>
          <a:xfrm xmlns:a="http://schemas.openxmlformats.org/drawingml/2006/main">
            <a:off x="5943600" y="2152650"/>
            <a:ext cx="56388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F2F2F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4EAE7A-AC53-4B59-9AFC-70730A6D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19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什么允许发生？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EC9E71-78CD-400D-9234-843F0A24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38400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BFC1C4"/>
                </a:solidFill>
                <a:latin typeface="Menlo"/>
                <a:ea typeface="Menlo"/>
                <a:cs typeface="Menlo"/>
              </a:defRPr>
            </a:pPr>
            <a:r>
              <a:rPr sz="1125" b="0" i="0">
                <a:solidFill>
                  <a:srgbClr val="BFC1C4"/>
                </a:solidFill>
                <a:latin typeface="Menlo"/>
                <a:ea typeface="Menlo"/>
                <a:cs typeface="Menlo"/>
              </a:rPr>
              <a:t>Norm · Spec · Permission</a:t>
            </a:r>
          </a:p>
        </p:txBody>
      </p:sp>
      <p:cxnSp>
        <p:nvCxnSpPr>
          <p:cNvPr id="81" name=""/>
          <p:cNvCxnSpPr/>
          <p:nvPr/>
        </p:nvCxnSpPr>
        <p:spPr>
          <a:xfrm xmlns:a="http://schemas.openxmlformats.org/drawingml/2006/main">
            <a:off x="5943600" y="2952750"/>
            <a:ext cx="56388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F2F2F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0BCB27-6B86-453C-B888-D0B017F1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19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我如何保持连续？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D7BF02-8CAF-43B0-BAB6-4124E2BA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38500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BFC1C4"/>
                </a:solidFill>
                <a:latin typeface="Menlo"/>
                <a:ea typeface="Menlo"/>
                <a:cs typeface="Menlo"/>
              </a:defRPr>
            </a:pPr>
            <a:r>
              <a:rPr sz="1125" b="0" i="0">
                <a:solidFill>
                  <a:srgbClr val="BFC1C4"/>
                </a:solidFill>
                <a:latin typeface="Menlo"/>
                <a:ea typeface="Menlo"/>
                <a:cs typeface="Menlo"/>
              </a:rPr>
              <a:t>Identity · State · Memory</a:t>
            </a:r>
          </a:p>
        </p:txBody>
      </p:sp>
      <p:cxnSp>
        <p:nvCxnSpPr>
          <p:cNvPr id="84" name=""/>
          <p:cNvCxnSpPr/>
          <p:nvPr/>
        </p:nvCxnSpPr>
        <p:spPr>
          <a:xfrm xmlns:a="http://schemas.openxmlformats.org/drawingml/2006/main">
            <a:off x="5943600" y="3752850"/>
            <a:ext cx="56388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F2F2F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3251B0-6928-4EC7-BE7D-FCDFBB88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19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我怎样行动并纠错？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3C81F4-977F-4D6E-9F81-FE4F0BDA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38600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BFC1C4"/>
                </a:solidFill>
                <a:latin typeface="Menlo"/>
                <a:ea typeface="Menlo"/>
                <a:cs typeface="Menlo"/>
              </a:defRPr>
            </a:pPr>
            <a:r>
              <a:rPr sz="1125" b="0" i="0">
                <a:solidFill>
                  <a:srgbClr val="BFC1C4"/>
                </a:solidFill>
                <a:latin typeface="Menlo"/>
                <a:ea typeface="Menlo"/>
                <a:cs typeface="Menlo"/>
              </a:rPr>
              <a:t>Tool · Authority · Feedback</a:t>
            </a:r>
          </a:p>
        </p:txBody>
      </p:sp>
      <p:cxnSp>
        <p:nvCxnSpPr>
          <p:cNvPr id="87" name=""/>
          <p:cNvCxnSpPr/>
          <p:nvPr/>
        </p:nvCxnSpPr>
        <p:spPr>
          <a:xfrm xmlns:a="http://schemas.openxmlformats.org/drawingml/2006/main">
            <a:off x="5943600" y="4552950"/>
            <a:ext cx="56388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F2F2F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A3DE62-960F-4606-9351-442FCF91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8196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我如何卸下负担？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CE0681-53E7-4830-8A8E-EE72E9F5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38700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BFC1C4"/>
                </a:solidFill>
                <a:latin typeface="Menlo"/>
                <a:ea typeface="Menlo"/>
                <a:cs typeface="Menlo"/>
              </a:defRPr>
            </a:pPr>
            <a:r>
              <a:rPr sz="1125" b="0" i="0">
                <a:solidFill>
                  <a:srgbClr val="BFC1C4"/>
                </a:solidFill>
                <a:latin typeface="Menlo"/>
                <a:ea typeface="Menlo"/>
                <a:cs typeface="Menlo"/>
              </a:rPr>
              <a:t>Compression · Forgetting · Dreaming</a:t>
            </a:r>
          </a:p>
        </p:txBody>
      </p:sp>
      <p:cxnSp>
        <p:nvCxnSpPr>
          <p:cNvPr id="90" name=""/>
          <p:cNvCxnSpPr/>
          <p:nvPr/>
        </p:nvCxnSpPr>
        <p:spPr>
          <a:xfrm xmlns:a="http://schemas.openxmlformats.org/drawingml/2006/main">
            <a:off x="400050" y="6400800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C3C3C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387002-8BAF-45E7-9BA2-82210665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A8AAAE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A8AAAE"/>
                </a:solidFill>
                <a:latin typeface="PingFang SC"/>
                <a:ea typeface="PingFang SC"/>
                <a:cs typeface="PingFang SC"/>
              </a:rPr>
              <a:t>判断 · 实践 · 更新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A972DD-B17C-4FA3-B4B8-3C63AC24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A8AAAE"/>
                </a:solidFill>
                <a:latin typeface="PingFang SC"/>
                <a:ea typeface="PingFang SC"/>
                <a:cs typeface="PingFang SC"/>
              </a:defRPr>
            </a:pPr>
            <a:r>
              <a:rPr sz="825" b="0" i="0">
                <a:solidFill>
                  <a:srgbClr val="A8AAAE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3018759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C1ECF3A0-67B2-4551-A556-84D98463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NEXT / PERSONAL BET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57F629-331E-4D11-BC94-43CE84FA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11391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我真正长期下注的，是 Agent 的能力曲线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032141-AA2C-411C-8D49-C2C70B9F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8112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产品会变；对 Agent 的理解会复利。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8F3119-25EF-400E-B3C7-B02A8E3B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6690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我会保持饥渴：亲自写、亲自用、亲自发现偏差，再把认知落回产品。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8BD0A1-DBB9-4551-8921-99C1813E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05100"/>
            <a:ext cx="35623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0F1F1"/>
          </a:solidFill>
          <a:ln xmlns:a="http://schemas.openxmlformats.org/drawingml/2006/main" w="0">
            <a:solidFill>
              <a:srgbClr val="F0F1F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3CA7DC-8368-4C97-9D85-D684D0E1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885656-795C-4D5C-A25B-5DD5B284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3105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StarCut｜先闭环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A3E39E-4B34-4614-873D-307C3F75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3105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把 Agent → 编辑 → 预览 → 导出做成稳定、可重复的专业闭环。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9E11B5-731A-427C-A3B6-660C791E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05100"/>
            <a:ext cx="35623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E410FD-B6B9-4A85-9327-9FA72B4D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8956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F95E61-7E5B-4650-B010-6D5847A4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257550"/>
            <a:ext cx="3105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VibePaper｜再验证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973403-6D84-4629-A1BA-C13F3BF2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829050"/>
            <a:ext cx="3105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验证多模态工作流、画布协作与创作留存，找到真正的高频入口。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8D384E-479B-474F-9E52-3EF453B0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05100"/>
            <a:ext cx="35623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0F1F1"/>
          </a:solidFill>
          <a:ln xmlns:a="http://schemas.openxmlformats.org/drawingml/2006/main" w="0">
            <a:solidFill>
              <a:srgbClr val="F0F1F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9BDAAD-6D87-46FF-B2F2-19EEB9C0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956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 i="0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FFCAEA-6D0A-44D3-A89B-FF9377AF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57550"/>
            <a:ext cx="3105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 i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Creative OS｜再组织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0BDAAA-068C-4F08-9DD7-63BD0269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29050"/>
            <a:ext cx="3105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承接意图、维护上下文、调度专业创作系统，成为创作领域的操作系统。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38B26C-EE5A-4C23-8F31-1404A046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95900"/>
            <a:ext cx="113728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F78137-D15E-4EF7-9397-9C406B87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05450"/>
            <a:ext cx="1072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下一步：让 Creative OS 组织多个专业创作世界，而不是再造一个全能编辑器。</a:t>
            </a:r>
          </a:p>
        </p:txBody>
      </p:sp>
      <p:cxnSp>
        <p:nvCxnSpPr>
          <p:cNvPr id="78" name=""/>
          <p:cNvCxnSpPr/>
          <p:nvPr/>
        </p:nvCxnSpPr>
        <p:spPr>
          <a:xfrm xmlns:a="http://schemas.openxmlformats.org/drawingml/2006/main">
            <a:off x="400050" y="6400800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7D9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C62684-9C5B-4B81-A173-C7230688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判断 · 实践 · 更新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04652D-8195-45C1-BF07-3EB6E89A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 i="0">
                <a:solidFill>
                  <a:srgbClr val="686B70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17838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2026-08-21T05:35:31.6300000Z</dcterms:created>
  <dcterms:modified xsi:type="dcterms:W3CDTF">2026-08-21T05:35:31.6300000Z</dcterms:modified>
</coreProperties>
</file>