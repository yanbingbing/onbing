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0b8746fec042b7" /><Relationship Type="http://schemas.openxmlformats.org/officeDocument/2006/relationships/extended-properties" Target="/docProps/app.xml" Id="R1199dc854509410f" /><Relationship Type="http://schemas.openxmlformats.org/officeDocument/2006/relationships/officeDocument" Target="/ppt/presentation.xml" Id="R97688d6b42524a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7ebe4530ba47fe"/>
  </p:sldMasterIdLst>
  <p:notesMasterIdLst>
    <p:notesMasterId xmlns:r="http://schemas.openxmlformats.org/officeDocument/2006/relationships" r:id="Rebb79b654ace41a6"/>
  </p:notesMasterIdLst>
  <p:sldIdLst>
    <p:sldId xmlns:r="http://schemas.openxmlformats.org/officeDocument/2006/relationships" id="256" r:id="Rcf29994156f9499e"/>
    <p:sldId xmlns:r="http://schemas.openxmlformats.org/officeDocument/2006/relationships" id="257" r:id="R4bdb642f0d7c438f"/>
    <p:sldId xmlns:r="http://schemas.openxmlformats.org/officeDocument/2006/relationships" id="258" r:id="R5c88367e2f5b4a44"/>
    <p:sldId xmlns:r="http://schemas.openxmlformats.org/officeDocument/2006/relationships" id="259" r:id="Ra2f115ea9976440e"/>
    <p:sldId xmlns:r="http://schemas.openxmlformats.org/officeDocument/2006/relationships" id="260" r:id="R587e9109f6384b13"/>
    <p:sldId xmlns:r="http://schemas.openxmlformats.org/officeDocument/2006/relationships" id="261" r:id="Rb449131d990b4cfd"/>
    <p:sldId xmlns:r="http://schemas.openxmlformats.org/officeDocument/2006/relationships" id="262" r:id="R5301395176d54819"/>
    <p:sldId xmlns:r="http://schemas.openxmlformats.org/officeDocument/2006/relationships" id="263" r:id="Rc29b7f83f6bd4170"/>
    <p:sldId xmlns:r="http://schemas.openxmlformats.org/officeDocument/2006/relationships" id="264" r:id="Rf5b3901078aa4c2f"/>
    <p:sldId xmlns:r="http://schemas.openxmlformats.org/officeDocument/2006/relationships" id="265" r:id="R3a4c6cc8bd1a4222"/>
    <p:sldId xmlns:r="http://schemas.openxmlformats.org/officeDocument/2006/relationships" id="266" r:id="R81f1de70980b4614"/>
    <p:sldId xmlns:r="http://schemas.openxmlformats.org/officeDocument/2006/relationships" id="267" r:id="R7e13417388da42cb"/>
    <p:sldId xmlns:r="http://schemas.openxmlformats.org/officeDocument/2006/relationships" id="268" r:id="R10cf7591bb44400b"/>
    <p:sldId xmlns:r="http://schemas.openxmlformats.org/officeDocument/2006/relationships" id="269" r:id="R40e346346733462f"/>
    <p:sldId xmlns:r="http://schemas.openxmlformats.org/officeDocument/2006/relationships" id="270" r:id="R4e336c7432a04f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9e7af1fedc4fe3" /><Relationship Type="http://schemas.openxmlformats.org/officeDocument/2006/relationships/slideMaster" Target="/ppt/slideMasters/slideMaster1.xml" Id="R847ebe4530ba47fe" /><Relationship Type="http://schemas.openxmlformats.org/officeDocument/2006/relationships/notesMaster" Target="/ppt/notesMasters/notesMaster1.xml" Id="Rebb79b654ace41a6" /><Relationship Type="http://schemas.openxmlformats.org/officeDocument/2006/relationships/presProps" Target="/ppt/presProps.xml" Id="Rc1db17e47f6c4190" /><Relationship Type="http://schemas.openxmlformats.org/officeDocument/2006/relationships/tableStyles" Target="/ppt/tableStyles.xml" Id="Rdcfb61f19002486c" /><Relationship Type="http://schemas.openxmlformats.org/officeDocument/2006/relationships/slide" Target="/ppt/slides/slide1.xml" Id="Rcf29994156f9499e" /><Relationship Type="http://schemas.openxmlformats.org/officeDocument/2006/relationships/slide" Target="/ppt/slides/slide2.xml" Id="R4bdb642f0d7c438f" /><Relationship Type="http://schemas.openxmlformats.org/officeDocument/2006/relationships/slide" Target="/ppt/slides/slide3.xml" Id="R5c88367e2f5b4a44" /><Relationship Type="http://schemas.openxmlformats.org/officeDocument/2006/relationships/slide" Target="/ppt/slides/slide4.xml" Id="Ra2f115ea9976440e" /><Relationship Type="http://schemas.openxmlformats.org/officeDocument/2006/relationships/slide" Target="/ppt/slides/slide5.xml" Id="R587e9109f6384b13" /><Relationship Type="http://schemas.openxmlformats.org/officeDocument/2006/relationships/slide" Target="/ppt/slides/slide6.xml" Id="Rb449131d990b4cfd" /><Relationship Type="http://schemas.openxmlformats.org/officeDocument/2006/relationships/slide" Target="/ppt/slides/slide7.xml" Id="R5301395176d54819" /><Relationship Type="http://schemas.openxmlformats.org/officeDocument/2006/relationships/slide" Target="/ppt/slides/slide8.xml" Id="Rc29b7f83f6bd4170" /><Relationship Type="http://schemas.openxmlformats.org/officeDocument/2006/relationships/slide" Target="/ppt/slides/slide9.xml" Id="Rf5b3901078aa4c2f" /><Relationship Type="http://schemas.openxmlformats.org/officeDocument/2006/relationships/slide" Target="/ppt/slides/slide10.xml" Id="R3a4c6cc8bd1a4222" /><Relationship Type="http://schemas.openxmlformats.org/officeDocument/2006/relationships/slide" Target="/ppt/slides/slide11.xml" Id="R81f1de70980b4614" /><Relationship Type="http://schemas.openxmlformats.org/officeDocument/2006/relationships/slide" Target="/ppt/slides/slide12.xml" Id="R7e13417388da42cb" /><Relationship Type="http://schemas.openxmlformats.org/officeDocument/2006/relationships/slide" Target="/ppt/slides/slide13.xml" Id="R10cf7591bb44400b" /><Relationship Type="http://schemas.openxmlformats.org/officeDocument/2006/relationships/slide" Target="/ppt/slides/slide14.xml" Id="R40e346346733462f" /><Relationship Type="http://schemas.openxmlformats.org/officeDocument/2006/relationships/slide" Target="/ppt/slides/slide15.xml" Id="R4e336c7432a04f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58131b5a994b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26fbd0768e46a3" /><Relationship Type="http://schemas.openxmlformats.org/officeDocument/2006/relationships/notesMaster" Target="/ppt/notesMasters/notesMaster1.xml" Id="R818a5821015846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e3f46366df44e4" /><Relationship Type="http://schemas.openxmlformats.org/officeDocument/2006/relationships/notesMaster" Target="/ppt/notesMasters/notesMaster1.xml" Id="Red952468cfc54b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daff8296d04a92" /><Relationship Type="http://schemas.openxmlformats.org/officeDocument/2006/relationships/notesMaster" Target="/ppt/notesMasters/notesMaster1.xml" Id="R4bb2ff72967641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6af778a0b34c0b" /><Relationship Type="http://schemas.openxmlformats.org/officeDocument/2006/relationships/notesMaster" Target="/ppt/notesMasters/notesMaster1.xml" Id="R881bc507bed04f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a82fd2a5d1432d" /><Relationship Type="http://schemas.openxmlformats.org/officeDocument/2006/relationships/notesMaster" Target="/ppt/notesMasters/notesMaster1.xml" Id="R644c411f1cc14e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9ab5fe6fc54fe8" /><Relationship Type="http://schemas.openxmlformats.org/officeDocument/2006/relationships/notesMaster" Target="/ppt/notesMasters/notesMaster1.xml" Id="R6c81f4d847724d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d5bd75105f47f7" /><Relationship Type="http://schemas.openxmlformats.org/officeDocument/2006/relationships/notesMaster" Target="/ppt/notesMasters/notesMaster1.xml" Id="Rde6fd84e0e5248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768714d0e04323" /><Relationship Type="http://schemas.openxmlformats.org/officeDocument/2006/relationships/notesMaster" Target="/ppt/notesMasters/notesMaster1.xml" Id="R99d078a8467049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67837d62d0490b" /><Relationship Type="http://schemas.openxmlformats.org/officeDocument/2006/relationships/notesMaster" Target="/ppt/notesMasters/notesMaster1.xml" Id="Rd244bed664b043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dfd41540084db4" /><Relationship Type="http://schemas.openxmlformats.org/officeDocument/2006/relationships/notesMaster" Target="/ppt/notesMasters/notesMaster1.xml" Id="R11edc2b7bd0742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16e65968f14d31" /><Relationship Type="http://schemas.openxmlformats.org/officeDocument/2006/relationships/notesMaster" Target="/ppt/notesMasters/notesMaster1.xml" Id="Rb2c413b259c44c7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06c6daca4b4ef8" /><Relationship Type="http://schemas.openxmlformats.org/officeDocument/2006/relationships/notesMaster" Target="/ppt/notesMasters/notesMaster1.xml" Id="Rca38f2d2128840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988bca0799434a" /><Relationship Type="http://schemas.openxmlformats.org/officeDocument/2006/relationships/notesMaster" Target="/ppt/notesMasters/notesMaster1.xml" Id="R5aba4cf19a94459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f45ee7fe16e4e2b" /><Relationship Type="http://schemas.openxmlformats.org/officeDocument/2006/relationships/notesMaster" Target="/ppt/notesMasters/notesMaster1.xml" Id="R05cb9b33387f483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c987b596bed47d9" /><Relationship Type="http://schemas.openxmlformats.org/officeDocument/2006/relationships/notesMaster" Target="/ppt/notesMasters/notesMaster1.xml" Id="R6d54218a49904b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开场直接说：这半年我带的不是一个传统的 4 人小团队，而是一支 20 人的混合团队。</a:t>
            </a:r>
          </a:p>
          <a:p xmlns:a="http://schemas.openxmlformats.org/drawingml/2006/main">
            <a:r>
              <a:t>其中 16 个远程同事是 Claude Code、Codex、Grok 等数字同事。引号要说出来，制造认知张力。</a:t>
            </a:r>
          </a:p>
          <a:p xmlns:a="http://schemas.openxmlformats.org/drawingml/2006/main">
            <a:r>
              <a:t>今天不讲工具清单，而是讲这次实践如何改变了我对管理和人的判断。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这页提出整场的问题：当执行力不再稀缺，管理到底还剩什么。</a:t>
            </a:r>
          </a:p>
          <a:p xmlns:a="http://schemas.openxmlformats.org/drawingml/2006/main">
            <a:r>
              <a:t>数字同事不是简单的软件采购。它们进入了工作分工，所以模型、上下文、工具和反馈都变成组织设计的一部分。</a:t>
            </a:r>
          </a:p>
          <a:p xmlns:a="http://schemas.openxmlformats.org/drawingml/2006/main">
            <a:r>
              <a:t>由此引出下一页：这两类成员看似都在完成任务，但行为机制完全不同。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这里不是比较谁更高级，而是说明两种成员的动力机制不同。</a:t>
            </a:r>
          </a:p>
          <a:p xmlns:a="http://schemas.openxmlformats.org/drawingml/2006/main">
            <a:r>
              <a:t>Agent 的优势是服从、速度与规模，但它会把错误方向也高效完成；人会争论、会想实现自己，也可能推翻我的问题。</a:t>
            </a:r>
          </a:p>
          <a:p xmlns:a="http://schemas.openxmlformats.org/drawingml/2006/main">
            <a:r>
              <a:t>所以我逐渐形成了两套管理方法。先讲如何管理执行型 Agent。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执行型 Agent 要靠耐心指导，不是靠一句模糊要求。架构图、流程图、时序图，本质上都是管理工具。</a:t>
            </a:r>
          </a:p>
          <a:p xmlns:a="http://schemas.openxmlformats.org/drawingml/2006/main">
            <a:r>
              <a:t>所谓暗箱操控，是把上下文与模块边界隔离好，让每个 Agent 只处理自己能验证的部分。</a:t>
            </a:r>
          </a:p>
          <a:p xmlns:a="http://schemas.openxmlformats.org/drawingml/2006/main">
            <a:r>
              <a:t>招聘环境也不同：数字员工的招聘成本就是模型和工具成本，关键岗位直接用最强模型，便宜模型并不一定省钱。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这是近半年最重要的方法沉淀：我不再把管理动作留在临场对话里，而是写成组织运行规则。</a:t>
            </a:r>
          </a:p>
          <a:p xmlns:a="http://schemas.openxmlformats.org/drawingml/2006/main">
            <a:r>
              <a:t>Prompt 指定世界，架构与流程指定工作地图，模块和权限指定组织边界，测试与 memory 指定反馈闭环。</a:t>
            </a:r>
          </a:p>
          <a:p xmlns:a="http://schemas.openxmlformats.org/drawingml/2006/main">
            <a:r>
              <a:t>这也是我对 Agent 架构的理解：它最终会走向组织设计，而不是提示词技巧。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这页讲实践方式，不要陷入工具品牌。品牌只是当前的招聘渠道，角色设计才可复用。</a:t>
            </a:r>
          </a:p>
          <a:p xmlns:a="http://schemas.openxmlformats.org/drawingml/2006/main">
            <a:r>
              <a:t>一个万能 Agent 容易同时犯方向、实现和验证错误。拆成研究、架构、实现、评审、测试、运维后，产物可以互相校验。</a:t>
            </a:r>
          </a:p>
          <a:p xmlns:a="http://schemas.openxmlformats.org/drawingml/2006/main">
            <a:r>
              <a:t>四个坐班同事掌握目标、判断、协同与最终责任，数字同事承担可并行、可验证的大量执行。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管理人的方法必须完全不同。主动型同事如果被当成 Agent 管理，最有价值的部分会被我亲手消灭。</a:t>
            </a:r>
          </a:p>
          <a:p xmlns:a="http://schemas.openxmlformats.org/drawingml/2006/main">
            <a:r>
              <a:t>我需要做的是授权、信任、把关环境，并找到真正有自我实现欲的人。</a:t>
            </a:r>
          </a:p>
          <a:p xmlns:a="http://schemas.openxmlformats.org/drawingml/2006/main">
            <a:r>
              <a:t>这也改变了招聘标准：未来执行力会越来越便宜，自驱、判断与责任感会越来越稀缺。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这页是两套管理方法的汇合。人和 Agent 不是替代关系，而是承担不同层级的责任。</a:t>
            </a:r>
          </a:p>
          <a:p xmlns:a="http://schemas.openxmlformats.org/drawingml/2006/main">
            <a:r>
              <a:t>人提出问题、做品味与取舍；Agent 把执行并行化；共享工作系统保存作品、数据、决策与反馈。</a:t>
            </a:r>
          </a:p>
          <a:p xmlns:a="http://schemas.openxmlformats.org/drawingml/2006/main">
            <a:r>
              <a:t>没有中间这层系统，人和 Agent 会变成一问一答，无法形成真正的组织能力。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成果页不要只报功能列表。强调这半年同时形成了组织结构、产品实践和方法沉淀。</a:t>
            </a:r>
          </a:p>
          <a:p xmlns:a="http://schemas.openxmlformats.org/drawingml/2006/main">
            <a:r>
              <a:t>汇报前可补三类真实数字：产品版本或闭环、用户/使用数据、Agent 并行任务或交付周期。不要为了好看虚构。</a:t>
            </a:r>
          </a:p>
          <a:p xmlns:a="http://schemas.openxmlformats.org/drawingml/2006/main">
            <a:r>
              <a:t>LoopCut 与 VibePaper 只作为实践证据点到为止，产品细节不是本场主线。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这页讲失败经验。数字团队的产能越强，管理者的认知缺陷越容易被成倍放大。</a:t>
            </a:r>
          </a:p>
          <a:p xmlns:a="http://schemas.openxmlformats.org/drawingml/2006/main">
            <a:r>
              <a:t>我遇到的典型问题是方向错误、伪完成、上下文债务，以及自己重新成为所有判断的瓶颈。</a:t>
            </a:r>
          </a:p>
          <a:p xmlns:a="http://schemas.openxmlformats.org/drawingml/2006/main">
            <a:r>
              <a:t>所以提升效率不是答案。必须建立让错误更早出现、让判断可以分布的机制。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这一页直接回答成长是什么：我不再通过亲自做对来证明价值，而是让整个组织更容易发现什么是对的。</a:t>
            </a:r>
          </a:p>
          <a:p xmlns:a="http://schemas.openxmlformats.org/drawingml/2006/main">
            <a:r>
              <a:t>新的工作包括提出问题、暴露偏差、建立反馈、选择下注方向。</a:t>
            </a:r>
          </a:p>
          <a:p xmlns:a="http://schemas.openxmlformats.org/drawingml/2006/main">
            <a:r>
              <a:t>如果所有判断仍然等我，这支 20 人团队本质上仍然只有一个大脑，扩张就没有发生。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这页讲我对自己的要求。Agent 越能执行，人越不能只靠经验和熟练度证明价值。</a:t>
            </a:r>
          </a:p>
          <a:p xmlns:a="http://schemas.openxmlformats.org/drawingml/2006/main">
            <a:r>
              <a:t>我需要提升品味和视野，主动看新的技术、新的人、新的产品，也要保持发现问题的好奇心。</a:t>
            </a:r>
          </a:p>
          <a:p xmlns:a="http://schemas.openxmlformats.org/drawingml/2006/main">
            <a:r>
              <a:t>所谓保持年轻，不是追逐热点，而是不让既有成功把判断封死。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这是一项未来判断，不要讲成已经确定的事实。可以说：我越来越相信，未来竞争不只发生在模型层，而发生在入口层。</a:t>
            </a:r>
          </a:p>
          <a:p xmlns:a="http://schemas.openxmlformats.org/drawingml/2006/main">
            <a:r>
              <a:t>AI 公司像新的电信公司，提供智能基础设施；Codex、WorkBuddy 一类 Agent 更像新的百度和 Google，直接承接用户意图并分发行动。</a:t>
            </a:r>
          </a:p>
          <a:p xmlns:a="http://schemas.openxmlformats.org/drawingml/2006/main">
            <a:r>
              <a:t>搜索入口掌握信息分发，Agent 入口进一步掌握上下文、权限和软件操作，因此更靠近用户关系。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这一页把入口判断落到 StarCut 和 VibePaper。战略上只有两个稳定位置：自己掌握意图入口，或者成为所有入口最愿意调用的专业世界。</a:t>
            </a:r>
          </a:p>
          <a:p xmlns:a="http://schemas.openxmlformats.org/drawingml/2006/main">
            <a:r>
              <a:t>成为入口，需要长期上下文、素材关系和产品内 Agent；被入口操控，需要对象模型、工具、权限、预览、撤销和可验证反馈。</a:t>
            </a:r>
          </a:p>
          <a:p xmlns:a="http://schemas.openxmlformats.org/drawingml/2006/main">
            <a:r>
              <a:t>两条路不是互斥。更现实的是双向建设：产品里有自己的 Agent，同时让 Codex、WorkBuddy 能完整操控。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结尾把组织实践与产品战略合并：内部要把数字团队变成系统，外部要同时建设入口和可操控接口。</a:t>
            </a:r>
          </a:p>
          <a:p xmlns:a="http://schemas.openxmlformats.org/drawingml/2006/main">
            <a:r>
              <a:t>下一阶段可以优先验证五件事：长期上下文、统一对象模型、Agent 工具协议、权限与撤销、可验证反馈。</a:t>
            </a:r>
          </a:p>
          <a:p xmlns:a="http://schemas.openxmlformats.org/drawingml/2006/main">
            <a:r>
              <a:t>最后请领导判断：应该先投入用户入口，还是先把专业能力做到所有入口都愿意调用。这个问题会自然进入创业资源与战略选择。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279bc7d7a143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56f10d41924e2d" /><Relationship Type="http://schemas.openxmlformats.org/officeDocument/2006/relationships/slideLayout" Target="/ppt/slideLayouts/slideLayout1.xml" Id="R74ec3dd29fad4a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ec3dd29fad4a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5f866cd0b4855" /><Relationship Type="http://schemas.openxmlformats.org/officeDocument/2006/relationships/notesSlide" Target="/ppt/notesSlides/notesSlide1.xml" Id="R96470de00e3c44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03477e7944de1" /><Relationship Type="http://schemas.openxmlformats.org/officeDocument/2006/relationships/notesSlide" Target="/ppt/notesSlides/notesSlide2.xml" Id="R0afbb6e9d3394b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51fa072654909" /><Relationship Type="http://schemas.openxmlformats.org/officeDocument/2006/relationships/notesSlide" Target="/ppt/notesSlides/notesSlide3.xml" Id="Ra0864b9538dc4b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6aef1e2ed420d" /><Relationship Type="http://schemas.openxmlformats.org/officeDocument/2006/relationships/notesSlide" Target="/ppt/notesSlides/notesSlide4.xml" Id="R11eeecaf9cca4a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baded8ee14d95" /><Relationship Type="http://schemas.openxmlformats.org/officeDocument/2006/relationships/notesSlide" Target="/ppt/notesSlides/notesSlide5.xml" Id="Re73a23d1b3f94c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836e4ade44436" /><Relationship Type="http://schemas.openxmlformats.org/officeDocument/2006/relationships/notesSlide" Target="/ppt/notesSlides/notesSlide6.xml" Id="R051ca2f8d83d4b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b3f7374a84926" /><Relationship Type="http://schemas.openxmlformats.org/officeDocument/2006/relationships/notesSlide" Target="/ppt/notesSlides/notesSlide7.xml" Id="R2ffd67c13dde4e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092d70f7642b6" /><Relationship Type="http://schemas.openxmlformats.org/officeDocument/2006/relationships/notesSlide" Target="/ppt/notesSlides/notesSlide8.xml" Id="R507f3b032aaf4d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c88b6a8724f0b" /><Relationship Type="http://schemas.openxmlformats.org/officeDocument/2006/relationships/notesSlide" Target="/ppt/notesSlides/notesSlide9.xml" Id="R9ec0003ff6fb4a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303a8aff54db0" /><Relationship Type="http://schemas.openxmlformats.org/officeDocument/2006/relationships/notesSlide" Target="/ppt/notesSlides/notesSlide10.xml" Id="R318c81d5d61341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68bc125384e0e" /><Relationship Type="http://schemas.openxmlformats.org/officeDocument/2006/relationships/notesSlide" Target="/ppt/notesSlides/notesSlide11.xml" Id="Ref6ece602f194cc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6b026315c4373" /><Relationship Type="http://schemas.openxmlformats.org/officeDocument/2006/relationships/notesSlide" Target="/ppt/notesSlides/notesSlide12.xml" Id="R6148d26d825248f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e18568f9c4e90" /><Relationship Type="http://schemas.openxmlformats.org/officeDocument/2006/relationships/notesSlide" Target="/ppt/notesSlides/notesSlide13.xml" Id="R6b99ee9518854ed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ca68e656a480f" /><Relationship Type="http://schemas.openxmlformats.org/officeDocument/2006/relationships/notesSlide" Target="/ppt/notesSlides/notesSlide14.xml" Id="Rdcc9686dc98c4a8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8fb7a4de54dfb" /><Relationship Type="http://schemas.openxmlformats.org/officeDocument/2006/relationships/notesSlide" Target="/ppt/notesSlides/notesSlide15.xml" Id="R80f5be2fc8c542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944AC3-251C-4679-A526-072E3160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组织演变 · 2026.07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B6424-04F9-4E9C-BC30-E2C55A44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95400"/>
            <a:ext cx="72390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7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我带了一支</a:t>
            </a:r>
          </a:p>
          <a:p xmlns:a="http://schemas.openxmlformats.org/drawingml/2006/main">
            <a:pPr algn="l">
              <a:buNone/>
              <a:defRPr sz="57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7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“20人”的团队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6003D-5D07-4FED-AB4D-87AAC2AC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6 个坐班同事 + 一支多 Agent 数字团队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2B231A-3166-45AA-8ACB-D0595D80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53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我重新理解了 Agent、管理与人的价值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419100" y="5562600"/>
            <a:ext cx="72390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6256B-03F9-4F58-83AE-C4BD31A5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150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不是“用 AI 提效”，而是第一次实践 Agent 时代的混合组织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9239250" y="723900"/>
            <a:ext cx="953" cy="47625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5C3F05-E194-4252-AB83-14D0DCC1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123950"/>
            <a:ext cx="1790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D5C6F-2595-408A-A80A-163B26B5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9621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坐班同事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C1F260-99D5-49D2-B3BA-21E6705E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24150"/>
            <a:ext cx="1790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09CCD-3EF3-4AFD-B518-D9499EAE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623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数字团队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9696450" y="4400550"/>
            <a:ext cx="17907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D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15EAF8-13F9-4463-8DC6-C094674E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533900"/>
            <a:ext cx="1790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555F2-63CD-45BB-BCA3-D4838EB2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2006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组织能力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FB70A2-503B-4CE0-9DA7-F1AA97C6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926381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D17501-DE04-4FA1-9904-D99D9A18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 / STARTING 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DFEF1-03E9-490C-A797-6ACED95F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11372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当执行力突然变得充沛，管理者真正管理的是什么？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FB022-07B2-4114-82FF-232AEE61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过去管理稀缺的人力；现在还要管理模型、上下文、工具、权限与反馈。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6096000" y="2171700"/>
            <a:ext cx="953" cy="27241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D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E4141-8110-4FB5-8528-5F5CF034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00300"/>
            <a:ext cx="1790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9B250-834B-4336-AA67-CD3AD724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坐班同事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2CCDF-0A16-4C23-9BA4-6B2B9A16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目标 · 判断 · 协同 · 责任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AB243-15A6-4A06-B8D3-E1E469A6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00300"/>
            <a:ext cx="1790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52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A693A0-5F98-4BDA-A922-CAA00EF9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385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多 Agent 团队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AC6EE-6A3E-4A2D-8B31-7A6F6315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7190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研究 · 架构 · 实现 · 评审 · 测试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EA21F-3598-48F7-B2A7-C6D36C4B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972050"/>
            <a:ext cx="84582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5035E0-2FD7-4FEB-8364-9FD38076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124450"/>
            <a:ext cx="7772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组织边界不再止于雇员，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而是扩展到了可被设计和协作的“数字劳动力”。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419100" y="6419850"/>
            <a:ext cx="113728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D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98F6B2-9383-4CC9-8BE1-11595477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判断 · 实践 · 更新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182D39-0240-4BB8-B07D-F333FF41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708621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C43341-1EF9-49F8-88A4-93AD0556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TWO MODES OF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B145F-C8AB-445B-9FD0-C94EF280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11372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看起来都是“员工”，其实是两种完全不同的管理对象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A6BD4-402E-4FA1-91CA-0FDD56D9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526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A / 执行型成员 ·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3E7F0-454E-4727-BAB4-E78A1B21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05050"/>
            <a:ext cx="4476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听话，执行效率高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没有情绪，可以持续工作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知识密度高，复制成本低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419100" y="4000500"/>
            <a:ext cx="48577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D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A199F7-2BCD-4141-B26F-4BDC3185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291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风险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75A634-D140-4C19-8675-0D493A24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0"/>
            <a:ext cx="3943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做得多不等于做得对；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主动性与方向感并不稳定。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5905500" y="1676400"/>
            <a:ext cx="953" cy="3638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D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3B86DF-6E22-4C39-AE89-3E44DBA3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526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B / 主体型成员 · 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6A815-9B4E-4B4A-9E9C-499C79B2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05050"/>
            <a:ext cx="4857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会 Argue，会追问为什么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有自我实现欲与主动性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能够发现问题本身不成立</a:t>
            </a:r>
          </a:p>
        </p:txBody>
      </p:sp>
      <p:cxnSp>
        <p:nvCxnSpPr>
          <p:cNvPr id="61" name=""/>
          <p:cNvCxnSpPr/>
          <p:nvPr/>
        </p:nvCxnSpPr>
        <p:spPr>
          <a:xfrm xmlns:a="http://schemas.openxmlformats.org/drawingml/2006/main">
            <a:off x="6515100" y="4000500"/>
            <a:ext cx="48577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D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A9ADAA-387C-4C6A-B20C-654550C6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291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价值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13911A-DA9A-4E52-BD69-F385B606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910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效率未必极致，但能创造新方向，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并愿意为选择承担责任。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58D9B-5C40-4DC3-B3D4-58596EF1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10200"/>
            <a:ext cx="9906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8C024-E2EB-4E99-9B77-0076E5A6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543550"/>
            <a:ext cx="922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认知更新：不能用同一种管理方法，带两种不同的“主体”。</a:t>
            </a:r>
          </a:p>
        </p:txBody>
      </p:sp>
      <p:cxnSp>
        <p:nvCxnSpPr>
          <p:cNvPr id="66" name=""/>
          <p:cNvCxnSpPr/>
          <p:nvPr/>
        </p:nvCxnSpPr>
        <p:spPr>
          <a:xfrm xmlns:a="http://schemas.openxmlformats.org/drawingml/2006/main">
            <a:off x="419100" y="6419850"/>
            <a:ext cx="113728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D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CC66ED-8848-48F0-922A-DB1469AC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判断 · 实践 · 更新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0FB8E1-8E3A-45FD-BA80-2A1B553B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758280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DBB657-9720-4C3C-BB02-2BC7E720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MANAGEMENT I / EXECUTION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5B642-806A-4A27-B27F-13FE6911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11372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带执行型 Agent，关键不是激励，而是把意图工程化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E34D0-955D-4F3A-BF80-34D0B977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不能期待它“自己领会”；要把正确路径变成可执行、可检查的工作环境。</a:t>
            </a:r>
          </a:p>
        </p:txBody>
      </p:sp>
      <p:cxnSp>
        <p:nvCxnSpPr>
          <p:cNvPr id="99" name=""/>
          <p:cNvCxnSpPr/>
          <p:nvPr/>
        </p:nvCxnSpPr>
        <p:spPr>
          <a:xfrm xmlns:a="http://schemas.openxmlformats.org/drawingml/2006/main">
            <a:off x="1295400" y="3295650"/>
            <a:ext cx="95250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28572-F1E0-4136-922D-B4BC7555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00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38272-16EA-4C62-8EAE-3A11EB2C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3E543-3B7A-4196-A2BF-712F55DB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46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意图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ABE1FC-8FE1-4986-80C6-90BCDEA1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为什么做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C0395-1BDD-4C80-8D99-7D81B241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00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72D34-C17A-4886-B0D5-1E7FC76E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52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F1A432-2338-41BF-85FD-0DB10ACE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146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架构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F8AF3-B4DC-40C0-8256-6C6E1784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385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对象与边界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733801-DB46-4414-8C7F-4D0A6A63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00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48370E-E2E6-4EAD-A0D3-EDE3E65B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52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616B4F-E44C-452F-875D-00E1D50F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146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流程 / 时序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57E09F-62BC-4F05-B82E-4C919188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385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依赖与顺序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D1EE0F-A147-4094-B722-E0AA7AFB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0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783E82-3ECC-4340-8A77-2B072246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52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282561-BC76-4571-B188-4661D352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146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模块任务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214B7B-3C9A-4E2F-AD58-4BB14574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385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一次只做一件事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6F0ECF-F503-4259-9775-7A5A28E6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04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2E92C3-C338-4D47-A476-8E678DEB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52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395D54-5658-4E23-99AA-F3AF1FDF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146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验证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78F0EC-C18F-4C2E-B20A-8D2EDCDB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385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测试 · 评审 · 回滚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F3DC0C-0551-4492-9190-536FACEE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29150"/>
            <a:ext cx="5391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74365E-5AF0-430B-B5C7-E2DDD347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耐心指导 + 上下文隔离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85A8F9-6689-42F2-9495-DFCB6129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给必要信息，不给无关噪声；把复杂任务拆成可控暗箱。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DE4504-5390-4575-BDC8-05AF10A3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29150"/>
            <a:ext cx="57340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8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FE2FEB-1ACD-4AF7-BBF9-3A7DC925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19650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“招聘环境”用最贵、最好的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2B0296-FED5-406B-9A0A-1778D42C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57800"/>
            <a:ext cx="520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模型是岗位配置。关键任务优先给能力上限最高的模型。</a:t>
            </a:r>
          </a:p>
        </p:txBody>
      </p:sp>
      <p:cxnSp>
        <p:nvCxnSpPr>
          <p:cNvPr id="126" name=""/>
          <p:cNvCxnSpPr/>
          <p:nvPr/>
        </p:nvCxnSpPr>
        <p:spPr>
          <a:xfrm xmlns:a="http://schemas.openxmlformats.org/drawingml/2006/main">
            <a:off x="419100" y="6419850"/>
            <a:ext cx="113728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D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82300C-61AB-4839-9EF5-4FFE1EFB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判断 · 实践 · 更新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BA7AFC-5E58-4298-9499-78ADB124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749930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9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D09CCA-C471-4726-ACFF-63562ABE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AGENT ORGANIZATION 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B0A9F-44F5-47A8-9C03-1E0644D7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113728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我开始把管理动作写进系统，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而不是留在脑子里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39A3E-68F8-4728-AE18-8C71B8AF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336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管理 = 为组织指定一套可持续运行的规则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77CEA-C10D-48F9-86B3-90FCAC93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718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E9E89-1C6C-40F7-874A-6936D54D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33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世界规则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7C70D-D948-4416-BE4F-19F31386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718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C9CCCF"/>
                </a:solidFill>
                <a:latin typeface="SFMono-Regular"/>
                <a:ea typeface="SFMono-Regular"/>
                <a:cs typeface="SFMono-Regular"/>
              </a:defRPr>
            </a:pPr>
            <a:r>
              <a:rPr sz="1200" b="0">
                <a:solidFill>
                  <a:srgbClr val="C9CCCF"/>
                </a:solidFill>
                <a:latin typeface="SFMono-Regular"/>
                <a:ea typeface="SFMono-Regular"/>
                <a:cs typeface="SFMono-Regular"/>
              </a:rPr>
              <a:t>Prompt · Norm · Spec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DD841-3EFE-4DC4-8173-EC31C87D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71800"/>
            <a:ext cx="369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C9CCC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C9CCCF"/>
                </a:solidFill>
                <a:latin typeface="PingFang SC"/>
                <a:ea typeface="PingFang SC"/>
                <a:cs typeface="PingFang SC"/>
              </a:rPr>
              <a:t>对象是什么，什么允许发生</a:t>
            </a:r>
          </a:p>
        </p:txBody>
      </p:sp>
      <p:cxnSp>
        <p:nvCxnSpPr>
          <p:cNvPr id="82" name=""/>
          <p:cNvCxnSpPr/>
          <p:nvPr/>
        </p:nvCxnSpPr>
        <p:spPr>
          <a:xfrm xmlns:a="http://schemas.openxmlformats.org/drawingml/2006/main">
            <a:off x="419100" y="3448050"/>
            <a:ext cx="109918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03030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1E2DA-A20B-401A-B9DB-3D5CC127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957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E75AD-CE92-4717-8CC6-F9669586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57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工作地图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055B7-7635-4A37-AFC8-FFB57477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95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C9CCCF"/>
                </a:solidFill>
                <a:latin typeface="SFMono-Regular"/>
                <a:ea typeface="SFMono-Regular"/>
                <a:cs typeface="SFMono-Regular"/>
              </a:defRPr>
            </a:pPr>
            <a:r>
              <a:rPr sz="1200" b="0">
                <a:solidFill>
                  <a:srgbClr val="C9CCCF"/>
                </a:solidFill>
                <a:latin typeface="SFMono-Regular"/>
                <a:ea typeface="SFMono-Regular"/>
                <a:cs typeface="SFMono-Regular"/>
              </a:rPr>
              <a:t>Architecture · Flow · Sequence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60297-F145-439D-82C1-D792076F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95700"/>
            <a:ext cx="369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C9CCC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C9CCCF"/>
                </a:solidFill>
                <a:latin typeface="PingFang SC"/>
                <a:ea typeface="PingFang SC"/>
                <a:cs typeface="PingFang SC"/>
              </a:rPr>
              <a:t>怎么拆，先后关系是什么</a:t>
            </a:r>
          </a:p>
        </p:txBody>
      </p:sp>
      <p:cxnSp>
        <p:nvCxnSpPr>
          <p:cNvPr id="87" name=""/>
          <p:cNvCxnSpPr/>
          <p:nvPr/>
        </p:nvCxnSpPr>
        <p:spPr>
          <a:xfrm xmlns:a="http://schemas.openxmlformats.org/drawingml/2006/main">
            <a:off x="419100" y="4171950"/>
            <a:ext cx="109918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03030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41AA20-9A02-4FE3-B88F-DDD46812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196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ORG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10284-6114-4EF7-8585-A99C9791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815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组织边界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8743EC-25F2-47EC-9FE7-D6F4B60C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196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C9CCCF"/>
                </a:solidFill>
                <a:latin typeface="SFMono-Regular"/>
                <a:ea typeface="SFMono-Regular"/>
                <a:cs typeface="SFMono-Regular"/>
              </a:defRPr>
            </a:pPr>
            <a:r>
              <a:rPr sz="1200" b="0">
                <a:solidFill>
                  <a:srgbClr val="C9CCCF"/>
                </a:solidFill>
                <a:latin typeface="SFMono-Regular"/>
                <a:ea typeface="SFMono-Regular"/>
                <a:cs typeface="SFMono-Regular"/>
              </a:rPr>
              <a:t>Module · Context · Permission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AB6E99-2E10-455A-A414-CC9D43C2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19600"/>
            <a:ext cx="369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C9CCC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C9CCCF"/>
                </a:solidFill>
                <a:latin typeface="PingFang SC"/>
                <a:ea typeface="PingFang SC"/>
                <a:cs typeface="PingFang SC"/>
              </a:rPr>
              <a:t>谁能看到什么，谁能改什么</a:t>
            </a:r>
          </a:p>
        </p:txBody>
      </p:sp>
      <p:cxnSp>
        <p:nvCxnSpPr>
          <p:cNvPr id="92" name=""/>
          <p:cNvCxnSpPr/>
          <p:nvPr/>
        </p:nvCxnSpPr>
        <p:spPr>
          <a:xfrm xmlns:a="http://schemas.openxmlformats.org/drawingml/2006/main">
            <a:off x="419100" y="4895850"/>
            <a:ext cx="109918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03030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196908-C61F-4E20-A070-C80C74F2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FEEDBACK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61348E-7F18-4719-8FC7-CAF3D0B3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054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反馈闭环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7387C1-293A-4C4D-BCB3-206C5319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435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C9CCCF"/>
                </a:solidFill>
                <a:latin typeface="SFMono-Regular"/>
                <a:ea typeface="SFMono-Regular"/>
                <a:cs typeface="SFMono-Regular"/>
              </a:defRPr>
            </a:pPr>
            <a:r>
              <a:rPr sz="1200" b="0">
                <a:solidFill>
                  <a:srgbClr val="C9CCCF"/>
                </a:solidFill>
                <a:latin typeface="SFMono-Regular"/>
                <a:ea typeface="SFMono-Regular"/>
                <a:cs typeface="SFMono-Regular"/>
              </a:rPr>
              <a:t>Test · Review · Rollback · Memory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788683-1A4E-41B8-97F1-517C8771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43500"/>
            <a:ext cx="369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C9CCC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C9CCCF"/>
                </a:solidFill>
                <a:latin typeface="PingFang SC"/>
                <a:ea typeface="PingFang SC"/>
                <a:cs typeface="PingFang SC"/>
              </a:rPr>
              <a:t>如何发现错误并重新开始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3801E4-43AA-4A57-984E-8B83CEDF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245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Prompt 不是话术；它是这支数字团队的制度、岗位说明和操作边界。</a:t>
            </a:r>
          </a:p>
        </p:txBody>
      </p:sp>
      <p:cxnSp>
        <p:nvCxnSpPr>
          <p:cNvPr id="98" name=""/>
          <p:cNvCxnSpPr/>
          <p:nvPr/>
        </p:nvCxnSpPr>
        <p:spPr>
          <a:xfrm xmlns:a="http://schemas.openxmlformats.org/drawingml/2006/main">
            <a:off x="419100" y="6419850"/>
            <a:ext cx="113728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43434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61B4C5-F544-41D2-A0C0-30E87B94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8A8D90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8A8D90"/>
                </a:solidFill>
                <a:latin typeface="PingFang SC"/>
                <a:ea typeface="PingFang SC"/>
                <a:cs typeface="PingFang SC"/>
              </a:rPr>
              <a:t>判断 · 实践 · 更新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6EC22F-8B90-4D0A-A570-F1525C63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8D9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A8D9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421992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56C960-E6E7-46DF-BA3B-BFBBE2BB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PRACTICE / MULTI-AGENT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02C00-FA5C-40C2-9226-8BE097B0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11372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同一个任务，被拆成多个岗位，而不是塞给一个万能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B6A04-3CFE-4683-88C4-066A6B12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Claude Code、Codex、Grok 等按任务选择；角色比模型名字更重要。</a:t>
            </a:r>
          </a:p>
        </p:txBody>
      </p:sp>
      <p:cxnSp>
        <p:nvCxnSpPr>
          <p:cNvPr id="81" name=""/>
          <p:cNvCxnSpPr/>
          <p:nvPr/>
        </p:nvCxnSpPr>
        <p:spPr>
          <a:xfrm xmlns:a="http://schemas.openxmlformats.org/drawingml/2006/main">
            <a:off x="6096000" y="2457450"/>
            <a:ext cx="953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D"/>
            </a:solidFill>
            <a:prstDash val="solid"/>
          </a:ln>
        </p:spPr>
      </p:cxnSp>
      <p:cxnSp>
        <p:nvCxnSpPr>
          <p:cNvPr id="82" name=""/>
          <p:cNvCxnSpPr/>
          <p:nvPr/>
        </p:nvCxnSpPr>
        <p:spPr>
          <a:xfrm xmlns:a="http://schemas.openxmlformats.org/drawingml/2006/main">
            <a:off x="6096000" y="1981200"/>
            <a:ext cx="953" cy="3371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7DADD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ECD93-4144-4E23-A906-41F29B68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6 个坐班同事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393AE-9E02-4185-A2F1-CF7720B3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目标 · 判断 · 协同 · 最终责任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DA9F0-863F-46C6-A9D1-21C17F88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人不必包办每一步，但必须拥有最终判断与责任。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50D67-292D-446F-801C-8E5B7FAA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574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多 Agent 数字团队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B49031-930C-4C5D-BEC1-BE2C4469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81300"/>
            <a:ext cx="1352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9EDED7-0692-4B67-A09E-46AF6B8A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3370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研究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358EF-CDD0-4C15-B2A0-003CE0E6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81300"/>
            <a:ext cx="1352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0EEF19-9FB7-4C96-B7C9-56FF9897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3370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架构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A0144-CFDB-49E9-8F04-140B3640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81300"/>
            <a:ext cx="1352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F6D7E3-E506-4084-8E9D-A84E3A60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93370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实现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21DC85-5797-44D8-9023-AD70BFFB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95700"/>
            <a:ext cx="1352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F23691-AEE5-4F18-BBB7-B028520B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4810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评审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0B505D-8B25-4EE0-9A64-5ADFA6DA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95700"/>
            <a:ext cx="1352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2AF134-8912-45E9-99F6-0B745788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4810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测试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408235-2CAB-467D-9E04-9C7914A0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95700"/>
            <a:ext cx="1352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E3EF16-B096-439A-BA2A-E2ACA0C7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48100"/>
            <a:ext cx="112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运维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E7B7A6-556E-47B1-AAC7-D4F7F4C7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19650"/>
            <a:ext cx="4552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一个 Agent 负责一个清晰角色；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产物交给下一个角色继续检查。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B4261F-249A-46BA-83CD-C08E9C7B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53100"/>
            <a:ext cx="9906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A99DB7-A855-4C6D-8CB0-1EAB0492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38825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从“调用模型”走向“设计岗位与协作关系”</a:t>
            </a:r>
          </a:p>
        </p:txBody>
      </p:sp>
      <p:cxnSp>
        <p:nvCxnSpPr>
          <p:cNvPr id="102" name=""/>
          <p:cNvCxnSpPr/>
          <p:nvPr/>
        </p:nvCxnSpPr>
        <p:spPr>
          <a:xfrm xmlns:a="http://schemas.openxmlformats.org/drawingml/2006/main">
            <a:off x="419100" y="6419850"/>
            <a:ext cx="113728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D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85F331-4904-42D6-94BB-CE51CF4D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判断 · 实践 · 更新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1828EB-530B-4073-AC29-CC9CFAA5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505509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BE0F73-2895-416B-AB0B-66943269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MANAGEMENT II / HUMAN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3B13D-5003-4D4C-997F-DDA7D710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11372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带主体型同事，不要替他想完，要给他做成的空间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08D02-E748-4E1B-A350-1D948076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这类成员不是等待任务的人；他需要的是目标、边界与可以实现自己的舞台。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247AA-6C81-4BF9-9A93-4D804455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336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C73EC-25FE-41E3-8085-39B6C015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574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授权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3C3ED-3EAE-44AE-9935-86A5F053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明确决策权，允许他选择路径，而不是只执行我的答案。</a:t>
            </a:r>
          </a:p>
        </p:txBody>
      </p:sp>
      <p:cxnSp>
        <p:nvCxnSpPr>
          <p:cNvPr id="69" name=""/>
          <p:cNvCxnSpPr/>
          <p:nvPr/>
        </p:nvCxnSpPr>
        <p:spPr>
          <a:xfrm xmlns:a="http://schemas.openxmlformats.org/drawingml/2006/main">
            <a:off x="419100" y="3371850"/>
            <a:ext cx="5143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D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BE7682-5624-4063-9A73-0E6EA63E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E04AE-79DE-4701-B1C4-2711C6E2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574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信任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5EB07-D81B-4621-8037-CA4E6E9A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908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不过早介入，不因一次偏差就把主动权收回来。</a:t>
            </a:r>
          </a:p>
        </p:txBody>
      </p:sp>
      <p:cxnSp>
        <p:nvCxnSpPr>
          <p:cNvPr id="73" name=""/>
          <p:cNvCxnSpPr/>
          <p:nvPr/>
        </p:nvCxnSpPr>
        <p:spPr>
          <a:xfrm xmlns:a="http://schemas.openxmlformats.org/drawingml/2006/main">
            <a:off x="6191250" y="3371850"/>
            <a:ext cx="51435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D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017D24-0CF5-44CD-BD12-C09E8FF7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38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110F7B-8503-423B-9C60-0AD14C57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环境把关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680F9B-CFAB-44AA-8409-5FF10CA6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把工具、信息、文化与底线准备好，让主动性有落点。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53AFB8-CF50-4E12-9B04-905B6273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E32704-3210-410B-82F4-CD1655BC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623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招聘自驱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3B9FFB-E3D8-4464-8351-ED715994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9575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找到真正想把事情做成、愿意为作品负责的人。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C1EDF1-705A-4DCA-ABA6-6A3AAAC1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95900"/>
            <a:ext cx="113728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F4AE58-C3B2-4DDF-8475-D45C6003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1064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人的价值不是比 Agent 更听话，而是会质疑目标、发现机会、承担选择。</a:t>
            </a:r>
          </a:p>
        </p:txBody>
      </p:sp>
      <p:cxnSp>
        <p:nvCxnSpPr>
          <p:cNvPr id="82" name=""/>
          <p:cNvCxnSpPr/>
          <p:nvPr/>
        </p:nvCxnSpPr>
        <p:spPr>
          <a:xfrm xmlns:a="http://schemas.openxmlformats.org/drawingml/2006/main">
            <a:off x="419100" y="6419850"/>
            <a:ext cx="113728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D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E47008-2A4D-4C14-9E82-CC31F9DD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判断 · 实践 · 更新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919701-648E-4C7F-B564-13F21967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70402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85C44F-0145-4AC6-B056-1331CA68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HYBRID 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7B82D-14BD-4624-80FD-F684A9E2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11372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最好的组织，不是人和 Agent 竞争，而是把不同优势放在正确位置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3009900" y="3352800"/>
            <a:ext cx="615315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794B4-8BE6-488C-89F3-C1D8BB94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86100"/>
            <a:ext cx="3657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作品 / 数据 / 决策 / 反馈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23FFA-CDA7-4535-ADEE-6432DCCE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5265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6A051-E4E2-49D5-B1DB-732438DA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245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4D5ED-5A2D-4FD6-9217-5A9C71C3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提出问题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品味与取舍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Argue 与判断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36CCF-4CC5-4FBF-83B9-AFC18F5D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62150"/>
            <a:ext cx="35433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8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E09B8-F583-47CC-B9EA-8B8AA465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43150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共享工作系统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058C3-FEDB-4CFB-98CB-8B599CE3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38500"/>
            <a:ext cx="2933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11111"/>
                </a:solidFill>
                <a:latin typeface="SFMono-Regular"/>
                <a:ea typeface="SFMono-Regular"/>
                <a:cs typeface="SFMono-Regular"/>
              </a:defRPr>
            </a:pPr>
            <a:r>
              <a:rPr sz="1425" b="0">
                <a:solidFill>
                  <a:srgbClr val="111111"/>
                </a:solidFill>
                <a:latin typeface="SFMono-Regular"/>
                <a:ea typeface="SFMono-Regular"/>
                <a:cs typeface="SFMono-Regular"/>
              </a:rPr>
              <a:t>Spec · Artifact · Memory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111111"/>
                </a:solidFill>
                <a:latin typeface="SFMono-Regular"/>
                <a:ea typeface="SFMono-Regular"/>
                <a:cs typeface="SFMono-Regular"/>
              </a:defRPr>
            </a:pPr>
            <a:r>
              <a:rPr sz="1425" b="0">
                <a:solidFill>
                  <a:srgbClr val="111111"/>
                </a:solidFill>
                <a:latin typeface="SFMono-Regular"/>
                <a:ea typeface="SFMono-Regular"/>
                <a:cs typeface="SFMono-Regular"/>
              </a:rPr>
              <a:t>Permission · Evaluation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17B407-B3F7-4B4C-863E-861C8DAB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2435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让协作连续、可见、可验证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DA62D1-C407-470A-BC4F-8938BE5F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5265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21C65A-D765-40C1-BE82-48F08451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57450"/>
            <a:ext cx="245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598249-06D7-4F61-B53D-C23717B6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194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并行执行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细节实现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快速试错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5C18F0-7410-444C-BB1A-576DF27A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38750"/>
            <a:ext cx="101727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107E7D-7A8A-4D78-81EC-734A66B7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10200"/>
            <a:ext cx="944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人定义“值得做什么”；Agent 放大“如何做到”；系统保证过程可验证。</a:t>
            </a:r>
          </a:p>
        </p:txBody>
      </p:sp>
      <p:cxnSp>
        <p:nvCxnSpPr>
          <p:cNvPr id="70" name=""/>
          <p:cNvCxnSpPr/>
          <p:nvPr/>
        </p:nvCxnSpPr>
        <p:spPr>
          <a:xfrm xmlns:a="http://schemas.openxmlformats.org/drawingml/2006/main">
            <a:off x="419100" y="6419850"/>
            <a:ext cx="113728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D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8D44D4-70A6-4DC4-80B5-C2BC6BAA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判断 · 实践 · 更新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B772D1-A01A-4B80-9FAD-EDBCE5D7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15023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AD4E0F-9125-4E1F-941C-DCCC0A27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RESULTS / 6 MONTHS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2960B-53FF-4766-A7D3-70A3F421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11372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近半年的成果，不只是一组功能，而是一套新的产能结构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658390-7E86-4DAF-88CD-737EB8D1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组织、产品与方法同时推进，单点能力开始变成可复用的协作方式。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5D90F-44AC-48C8-B092-DFBE5466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52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98115-7785-4976-B588-B2DC4758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3365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组织结构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9356A-AF13-4B82-B27C-D49250C2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00400"/>
            <a:ext cx="339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人 + Agent</a:t>
            </a:r>
          </a:p>
        </p:txBody>
      </p:sp>
      <p:cxnSp>
        <p:nvCxnSpPr>
          <p:cNvPr id="72" name=""/>
          <p:cNvCxnSpPr/>
          <p:nvPr/>
        </p:nvCxnSpPr>
        <p:spPr>
          <a:xfrm xmlns:a="http://schemas.openxmlformats.org/drawingml/2006/main">
            <a:off x="419100" y="4362450"/>
            <a:ext cx="3390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D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BEB476-9C58-4680-B822-2851C22F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72000"/>
            <a:ext cx="339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坐班同事与数字同事协同，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复杂工作开始并行推进。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571D99-DC61-4557-B6BF-0061F3CE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52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60C27-5A9B-4875-9AC4-3E1D6DCB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33650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产品实践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B776E-3155-4CC5-8845-834B832C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00400"/>
            <a:ext cx="33909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StarCut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VibePaper</a:t>
            </a:r>
          </a:p>
        </p:txBody>
      </p:sp>
      <p:cxnSp>
        <p:nvCxnSpPr>
          <p:cNvPr id="77" name=""/>
          <p:cNvCxnSpPr/>
          <p:nvPr/>
        </p:nvCxnSpPr>
        <p:spPr>
          <a:xfrm xmlns:a="http://schemas.openxmlformats.org/drawingml/2006/main">
            <a:off x="4400550" y="4362450"/>
            <a:ext cx="3390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D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B7CB0-5226-4AF6-97EB-F89FFDFD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72000"/>
            <a:ext cx="3390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验证专业视频编辑与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多模态创作画布两个方向。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1D6C0A-71D8-4795-A158-B69BE189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52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69F499-3ABB-4E46-AE5F-FC061448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3409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方法沉淀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7D92FA-71F9-492A-9BF9-2324E244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00400"/>
            <a:ext cx="3409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Agent OS</a:t>
            </a:r>
          </a:p>
        </p:txBody>
      </p:sp>
      <p:cxnSp>
        <p:nvCxnSpPr>
          <p:cNvPr id="82" name=""/>
          <p:cNvCxnSpPr/>
          <p:nvPr/>
        </p:nvCxnSpPr>
        <p:spPr>
          <a:xfrm xmlns:a="http://schemas.openxmlformats.org/drawingml/2006/main">
            <a:off x="8382000" y="4362450"/>
            <a:ext cx="34099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D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5B96BC-B569-4C2C-9CED-8748FB3B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3409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Prompt、Spec、Memory、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Review 逐渐形成稳定工作流。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FDFB86-80F1-4DC6-A0C5-31A58F90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81650"/>
            <a:ext cx="9906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8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7275BB-DDB1-4CBF-826C-75F6F1DD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676900"/>
            <a:ext cx="925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从单点调用 → 角色分工 → 并行推进 → 结果校验</a:t>
            </a:r>
          </a:p>
        </p:txBody>
      </p:sp>
      <p:cxnSp>
        <p:nvCxnSpPr>
          <p:cNvPr id="86" name=""/>
          <p:cNvCxnSpPr/>
          <p:nvPr/>
        </p:nvCxnSpPr>
        <p:spPr>
          <a:xfrm xmlns:a="http://schemas.openxmlformats.org/drawingml/2006/main">
            <a:off x="419100" y="6419850"/>
            <a:ext cx="113728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D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A2CE94-FAE5-403C-B6DA-AA563162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判断 · 实践 · 更新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1C4D9C-4502-44DA-BE06-3A4C46D3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537767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09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BD6557-D949-4CC9-BF94-EEA742C6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FAILURE / AMPLIFICATION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B899B-4B49-47EB-9DB9-CBBD0ABC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11372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产能被放大以后，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错误也会被放大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2E168-CB1A-4E4C-9545-5C42E635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C6C9C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6C9CC"/>
                </a:solidFill>
                <a:latin typeface="PingFang SC"/>
                <a:ea typeface="PingFang SC"/>
                <a:cs typeface="PingFang SC"/>
              </a:rPr>
              <a:t>Agent 让“做”变快，也让组织更快暴露自己的认知缺陷。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A1B8B-7797-4E94-9EEE-73F1AD66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05150"/>
            <a:ext cx="25908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B3047-CB7B-4231-A667-A4973731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D7F43-24FD-4BEE-94C2-F0710C43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方向错误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D37AB-87D0-4C0D-8363-0982C129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错误问题被更快做完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471D3-E139-4B8E-8728-24144417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05150"/>
            <a:ext cx="25908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1B1FE-9B83-416E-B492-6604E31A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76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90AB43-DBBD-4279-A22C-BCDF18C3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338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伪完成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B486C-921C-4F9D-97EE-57CB82A9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2435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C6C9C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6C9CC"/>
                </a:solidFill>
                <a:latin typeface="PingFang SC"/>
                <a:ea typeface="PingFang SC"/>
                <a:cs typeface="PingFang SC"/>
              </a:rPr>
              <a:t>产物很多，但没有集成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FBD541-2A1C-4A39-8EE8-B845DD4E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05150"/>
            <a:ext cx="25908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D3310B-12AD-49A6-9AD9-51204215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76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256F8F-94B8-440E-93F0-9A8D1819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338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上下文债务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5FDF50-75E1-4695-9D41-272BBC0F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2435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C6C9C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6C9CC"/>
                </a:solidFill>
                <a:latin typeface="PingFang SC"/>
                <a:ea typeface="PingFang SC"/>
                <a:cs typeface="PingFang SC"/>
              </a:rPr>
              <a:t>信息漂移，同错反复发生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BBCD8E-1339-4861-8191-09A71A25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05150"/>
            <a:ext cx="25908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A1A1A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38E08F-9424-47C8-A53F-D15EEA2E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76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ACC134-9C52-4214-97CF-24F60A0A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7338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管理者瓶颈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8CD2FA-DA76-4D67-A70E-3EEB62B8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24350"/>
            <a:ext cx="220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C6C9C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6C9CC"/>
                </a:solidFill>
                <a:latin typeface="PingFang SC"/>
                <a:ea typeface="PingFang SC"/>
                <a:cs typeface="PingFang SC"/>
              </a:rPr>
              <a:t>所有判断最后仍等待我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B66C42-94A2-4D6A-B525-9BBA9F0F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673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最大的风险从“做不出来”，变成“太快地做错”。</a:t>
            </a:r>
          </a:p>
        </p:txBody>
      </p:sp>
      <p:cxnSp>
        <p:nvCxnSpPr>
          <p:cNvPr id="86" name=""/>
          <p:cNvCxnSpPr/>
          <p:nvPr/>
        </p:nvCxnSpPr>
        <p:spPr>
          <a:xfrm xmlns:a="http://schemas.openxmlformats.org/drawingml/2006/main">
            <a:off x="419100" y="6419850"/>
            <a:ext cx="113728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43434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A74B31-56A7-453D-A133-2DC2E4B2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8A8D90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8A8D90"/>
                </a:solidFill>
                <a:latin typeface="PingFang SC"/>
                <a:ea typeface="PingFang SC"/>
                <a:cs typeface="PingFang SC"/>
              </a:rPr>
              <a:t>判断 · 实践 · 更新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4F726F-11C9-4F3E-B6CF-8461E78A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8D9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A8D9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123190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5EAF14-CC7E-4DD9-888A-4733B690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COGNITION UPDATE / LEADERSHIP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16F1D-A898-4591-B8A6-B6465EAA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11372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我的工作重心，从亲自做对，转向让正确更容易被发现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36EA2-A314-420A-BF2B-9A1C1E96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478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过去：我是一名最强执行者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A4C83-CA1C-46DF-B9F6-A388EDA9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336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A8FB3-1F84-4AA3-8864-EBC14286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384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给答案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FA768-82A1-4768-B53B-3E1121EE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24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48762-1667-453F-A4F9-EE670B93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派任务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0E2B3-F6DF-4E72-8A0F-4AFB320C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147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60EF7-B961-47A0-B6DF-E69D63F9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逐项验收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0B3CA1-2E65-4E94-BFC3-C542A4EE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053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373CAC-00C1-4544-954A-54B6F464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00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出现偏差就接管</a:t>
            </a:r>
          </a:p>
        </p:txBody>
      </p:sp>
      <p:cxnSp>
        <p:nvCxnSpPr>
          <p:cNvPr id="86" name=""/>
          <p:cNvCxnSpPr/>
          <p:nvPr/>
        </p:nvCxnSpPr>
        <p:spPr>
          <a:xfrm xmlns:a="http://schemas.openxmlformats.org/drawingml/2006/main">
            <a:off x="5905500" y="1752600"/>
            <a:ext cx="953" cy="33528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D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418B4F-59BE-437B-988A-88419FEC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47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现在：我是组织的认知系统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C39CB0-C35A-4BBD-934A-84BC794C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336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01703D-D154-4606-9805-AB4BDACA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384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提出更好的问题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AA74E5-0C62-4ED5-9563-5095AADF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242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D75C21-E8D8-441B-9EB5-DB540470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289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让冲突与偏差显性化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12D7AF-B316-4185-94BA-4245C010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147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DF45DE-A477-464B-BD3D-9B4581A7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195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建立反馈和复盘机制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0B1544-B136-4DF9-A270-9BEA73F0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053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EF6F87-9B48-4B68-A11B-37CC7C35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100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选择值得下注的方向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9BCE9B-3364-4C04-B35C-EE466182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91150"/>
            <a:ext cx="10058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B92ADF-62C7-4BE0-891A-27F6BA70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435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管理者不再是最强执行者，而是组织的判断与学习机制。</a:t>
            </a:r>
          </a:p>
        </p:txBody>
      </p:sp>
      <p:cxnSp>
        <p:nvCxnSpPr>
          <p:cNvPr id="98" name=""/>
          <p:cNvCxnSpPr/>
          <p:nvPr/>
        </p:nvCxnSpPr>
        <p:spPr>
          <a:xfrm xmlns:a="http://schemas.openxmlformats.org/drawingml/2006/main">
            <a:off x="419100" y="6419850"/>
            <a:ext cx="113728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D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2E52E3-5546-4156-A891-1F3017F7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判断 · 实践 · 更新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09697B-C4A7-4B86-9BC6-C0EE29A8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763059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133EED-4B4F-4036-96A6-04EB16F4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SELF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72E6D-C736-479F-8270-8F83FCEF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11372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Agent 越强，人的价值越靠近品味、视野和好奇心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96BB6-F07E-48CC-8CB5-8B95379B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执行会继续变便宜；发现什么值得做、什么才算好，会越来越稀缺。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EBDE6-FB6E-4B8E-BDF1-2FBB1ED0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52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7EEA0-244E-4655-BBCB-F773D7F9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289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品味</a:t>
            </a:r>
          </a:p>
        </p:txBody>
      </p:sp>
      <p:cxnSp>
        <p:nvCxnSpPr>
          <p:cNvPr id="62" name=""/>
          <p:cNvCxnSpPr/>
          <p:nvPr/>
        </p:nvCxnSpPr>
        <p:spPr>
          <a:xfrm xmlns:a="http://schemas.openxmlformats.org/drawingml/2006/main">
            <a:off x="419100" y="3467100"/>
            <a:ext cx="34290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D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6A031-8359-4299-B921-7700B35B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3380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知道什么值得做，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也知道什么结果才算好。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143AE-514F-4248-A871-25027467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152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1905AE-03CA-4792-B7B2-D875B006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6289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视野</a:t>
            </a:r>
          </a:p>
        </p:txBody>
      </p:sp>
      <p:cxnSp>
        <p:nvCxnSpPr>
          <p:cNvPr id="66" name=""/>
          <p:cNvCxnSpPr/>
          <p:nvPr/>
        </p:nvCxnSpPr>
        <p:spPr>
          <a:xfrm xmlns:a="http://schemas.openxmlformats.org/drawingml/2006/main">
            <a:off x="4295775" y="3467100"/>
            <a:ext cx="34290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D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5DF8B2-A208-4724-81B3-FF29EE46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73380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持续看到组织之外，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理解新的技术与可能性。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ECF264-288A-4632-A809-15AE006E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AE7D3A-3894-4D26-9F55-E9783CD5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2890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好奇心</a:t>
            </a:r>
          </a:p>
        </p:txBody>
      </p:sp>
      <p:cxnSp>
        <p:nvCxnSpPr>
          <p:cNvPr id="70" name=""/>
          <p:cNvCxnSpPr/>
          <p:nvPr/>
        </p:nvCxnSpPr>
        <p:spPr>
          <a:xfrm xmlns:a="http://schemas.openxmlformats.org/drawingml/2006/main">
            <a:off x="8172450" y="3467100"/>
            <a:ext cx="34290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D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B49B85-4DD0-4421-A005-8C1B92A4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3380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带着发现的眼光追问，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不让经验变成封闭。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0D6604-2DCF-4E18-80F9-E60600DA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81600"/>
            <a:ext cx="113728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FE1EB-802D-42D3-8C7F-C017EE5C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1061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带着发现的眼光、好奇的眼光，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保持一颗年轻的心。</a:t>
            </a:r>
          </a:p>
        </p:txBody>
      </p:sp>
      <p:cxnSp>
        <p:nvCxnSpPr>
          <p:cNvPr id="74" name=""/>
          <p:cNvCxnSpPr/>
          <p:nvPr/>
        </p:nvCxnSpPr>
        <p:spPr>
          <a:xfrm xmlns:a="http://schemas.openxmlformats.org/drawingml/2006/main">
            <a:off x="419100" y="6419850"/>
            <a:ext cx="113728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D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056F15-A82A-461A-8345-F457DC42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判断 · 实践 · 更新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4C203C-9B3A-40DC-9AD8-BECFE856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840352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090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2592BF-8BCA-4A68-90D0-CFC0037A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FUTURE THESIS / ENTRY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739F8-D567-4ADF-BD2D-86C45F8D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113728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我的判断：未来的竞争，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不只是模型之争，而是入口之争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CBDC9-D9E6-4A05-93F3-D66D06A9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431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AI 公司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9E1E8-C58E-4F33-BE34-75AD8585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新的电信公司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4F949-A238-4FC6-A6B5-597734F2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14750"/>
            <a:ext cx="4667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8CAC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C8CACC"/>
                </a:solidFill>
                <a:latin typeface="PingFang SC"/>
                <a:ea typeface="PingFang SC"/>
                <a:cs typeface="PingFang SC"/>
              </a:rPr>
              <a:t>提供模型、算力与智能基础设施；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C8CAC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C8CACC"/>
                </a:solidFill>
                <a:latin typeface="PingFang SC"/>
                <a:ea typeface="PingFang SC"/>
                <a:cs typeface="PingFang SC"/>
              </a:rPr>
              <a:t>决定能力上限，但不一定掌握最终用户关系。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5905500" y="2266950"/>
            <a:ext cx="953" cy="2800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4343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838E9-D35A-4253-A480-8526E4ED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431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DCBF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DCBF4"/>
                </a:solidFill>
                <a:latin typeface="PingFang SC"/>
                <a:ea typeface="PingFang SC"/>
                <a:cs typeface="PingFang SC"/>
              </a:rPr>
              <a:t>Codex / WorkBuddy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38E2A-03E4-4CCC-864F-8683AD30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57500"/>
            <a:ext cx="514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新的百度 / Google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3284D-B4B8-4F30-8426-2801D97A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14750"/>
            <a:ext cx="504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8CAC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C8CACC"/>
                </a:solidFill>
                <a:latin typeface="PingFang SC"/>
                <a:ea typeface="PingFang SC"/>
                <a:cs typeface="PingFang SC"/>
              </a:rPr>
              <a:t>掌握用户意图、持续上下文与行动分发；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C8CAC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C8CACC"/>
                </a:solidFill>
                <a:latin typeface="PingFang SC"/>
                <a:ea typeface="PingFang SC"/>
                <a:cs typeface="PingFang SC"/>
              </a:rPr>
              <a:t>不只回答问题，而是进入软件替用户行动。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00F32-F8F0-417B-81EB-166DA0E9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10553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10937-F0D1-4FA5-97B4-8D16DB06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48300"/>
            <a:ext cx="982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谁掌握意图、上下文和行动入口，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谁就掌握下一代软件的用户关系。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419100" y="6419850"/>
            <a:ext cx="113728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4343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77EDC8-22B6-41CD-9AF8-6B8875A7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8A8D90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8A8D90"/>
                </a:solidFill>
                <a:latin typeface="PingFang SC"/>
                <a:ea typeface="PingFang SC"/>
                <a:cs typeface="PingFang SC"/>
              </a:rPr>
              <a:t>判断 · 实践 · 更新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DC1CB0-254F-4BF5-BB8A-2A0CE633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8D9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8A8D90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935883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35E862-769A-480A-923F-A2D9356E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PRODUCT STRATEGY / TWO POSITIONS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4383C-E7A0-4BC2-A0A6-6337B1BA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11372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StarCut / VibePaper 只有两种战略位置：</a:t>
            </a:r>
          </a:p>
          <a:p xmlns:a="http://schemas.openxmlformats.org/drawingml/2006/main">
            <a:pPr algn="l">
              <a:buNone/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成为入口，或成为入口最愿意操控的世界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C54F8-5718-42D6-9775-407E14FC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383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A / 成为入口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39D22-F702-4157-B6FA-042272DA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479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用户从这里表达创作意图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BD593-AD11-4EA3-8A16-3FCBABAD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71850"/>
            <a:ext cx="4476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理解长期上下文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管理素材、作品与关系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Agent 在产品内部持续行动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DAFA6-8D24-40C1-8850-76CEF5A8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196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赢在：用户关系与持续使用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5905500" y="1962150"/>
            <a:ext cx="953" cy="3257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D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666EEE-51DB-4D15-AD82-1C22BA4F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383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B / 被入口操控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AE415-1A70-4ED8-83AE-F30DC748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479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外部 Agent 能完整使用专业能力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5B9D4-E19D-44F6-A9AB-E868330D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71850"/>
            <a:ext cx="5048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暴露对象状态与操作工具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明确权限、预览、撤销与反馈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Codex 可以导入、编辑、检查、导出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283A82-53D7-4154-B8EA-52611FE8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196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赢在：专业深度与可验证性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3686EF-0BEB-4F81-893E-0C92EC57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86400"/>
            <a:ext cx="10439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E0D003-0B07-43F1-9990-4DEBCA39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00700"/>
            <a:ext cx="979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更现实的路径：双向建设——产品内置 Agent，同时向外部 Agent 开放整个创作世界。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419100" y="6419850"/>
            <a:ext cx="113728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D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737E61-04C4-4595-8B64-D2EB3657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判断 · 实践 · 更新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13EE83-F61A-4168-A57C-077A5779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928093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9B157F-9333-4965-BB21-8C8E5D9B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NEXT / ORGANIZATION BET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C16F8-F01C-4100-B314-99459964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11372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下一阶段：一边争入口，一边把自己变成可被 Agent 操控的世界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643AA-8E42-492F-A2CF-1BCC2CD2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38350"/>
            <a:ext cx="35623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4B466-8799-443F-913A-B3F73D30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592A1-4315-40D4-84C2-CF05ACAB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产品内入口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497A8-2551-415B-9BA2-E7E57695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让用户从一句意图开始，Agent 持续理解上下文、管理作品并完成行动。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5D2CB-48F4-45CE-B6AE-72C133B5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038350"/>
            <a:ext cx="35623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E8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D9124-B03C-4AE0-95DF-30848332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669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DA552-5C75-4685-9B66-D1B65464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0035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产品外接口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1C04B3-D813-4E60-8881-EDD070C5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56235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沉淀对象模型、工具、权限、预览、撤销和评价，让外部 Agent 能稳定操控。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56C62-8C8F-45F5-A24C-72807436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35623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A5460B-FBD2-4646-A6CB-88195718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669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D8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9F3112-3FFE-4A06-829E-96554D0A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00350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组织与自己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CFE5D8-7E98-4226-A237-CCC3A979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6235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数字团队继续系统化；真人团队扩大授权；我持续训练品味、视野和发现力。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0C1CDE-C6B9-4C02-99BA-DF94A1AC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57800"/>
            <a:ext cx="113728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7897E4-608D-4828-8D10-91CBC94A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10648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真正的优势，是同时建设入口、开放专业能力，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并让人与 Agent 在同一套规则下协作。</a:t>
            </a:r>
          </a:p>
        </p:txBody>
      </p:sp>
      <p:cxnSp>
        <p:nvCxnSpPr>
          <p:cNvPr id="70" name=""/>
          <p:cNvCxnSpPr/>
          <p:nvPr/>
        </p:nvCxnSpPr>
        <p:spPr>
          <a:xfrm xmlns:a="http://schemas.openxmlformats.org/drawingml/2006/main">
            <a:off x="419100" y="6419850"/>
            <a:ext cx="1137285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ADD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EFC14A-405F-4D40-B096-1BD878B3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判断 · 实践 · 更新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BB81E9-1E6A-42E5-BAA7-30CD16DE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E7379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E7379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546883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2026-08-21T05:35:33.5430000Z</dcterms:created>
  <dcterms:modified xsi:type="dcterms:W3CDTF">2026-08-21T05:35:33.5430000Z</dcterms:modified>
</coreProperties>
</file>